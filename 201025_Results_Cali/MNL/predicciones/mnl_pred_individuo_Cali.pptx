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5F6461-5A16-40B9-98B0-CC8ABC8F55DC}" v="1" dt="2025-11-14T02:12:23.4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tags" Target="tags/tag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Valdés Cárdenas" userId="f8f89820ab55adc2" providerId="LiveId" clId="{E27316B4-7B3D-4134-9022-90109EBC1817}"/>
    <pc:docChg chg="undo custSel addSld modSld">
      <pc:chgData name="Daniela Valdés Cárdenas" userId="f8f89820ab55adc2" providerId="LiveId" clId="{E27316B4-7B3D-4134-9022-90109EBC1817}" dt="2025-11-14T02:15:38.288" v="153" actId="20577"/>
      <pc:docMkLst>
        <pc:docMk/>
      </pc:docMkLst>
      <pc:sldChg chg="addSp delSp modSp mod">
        <pc:chgData name="Daniela Valdés Cárdenas" userId="f8f89820ab55adc2" providerId="LiveId" clId="{E27316B4-7B3D-4134-9022-90109EBC1817}" dt="2025-11-14T02:13:46.266" v="118" actId="1076"/>
        <pc:sldMkLst>
          <pc:docMk/>
          <pc:sldMk cId="0" sldId="256"/>
        </pc:sldMkLst>
        <pc:spChg chg="mod">
          <ac:chgData name="Daniela Valdés Cárdenas" userId="f8f89820ab55adc2" providerId="LiveId" clId="{E27316B4-7B3D-4134-9022-90109EBC1817}" dt="2025-11-14T02:13:43.212" v="117" actId="113"/>
          <ac:spMkLst>
            <pc:docMk/>
            <pc:sldMk cId="0" sldId="256"/>
            <ac:spMk id="2" creationId="{00000000-0000-0000-0000-000000000000}"/>
          </ac:spMkLst>
        </pc:spChg>
        <pc:spChg chg="add mod">
          <ac:chgData name="Daniela Valdés Cárdenas" userId="f8f89820ab55adc2" providerId="LiveId" clId="{E27316B4-7B3D-4134-9022-90109EBC1817}" dt="2025-11-14T02:13:46.266" v="118" actId="1076"/>
          <ac:spMkLst>
            <pc:docMk/>
            <pc:sldMk cId="0" sldId="256"/>
            <ac:spMk id="5" creationId="{688520AA-5366-C1FC-9C54-AB1E7FB52CC1}"/>
          </ac:spMkLst>
        </pc:spChg>
        <pc:graphicFrameChg chg="del mod modGraphic">
          <ac:chgData name="Daniela Valdés Cárdenas" userId="f8f89820ab55adc2" providerId="LiveId" clId="{E27316B4-7B3D-4134-9022-90109EBC1817}" dt="2025-11-14T02:12:46.816" v="107" actId="478"/>
          <ac:graphicFrameMkLst>
            <pc:docMk/>
            <pc:sldMk cId="0" sldId="256"/>
            <ac:graphicFrameMk id="3" creationId="{00000000-0000-0000-0000-000000000000}"/>
          </ac:graphicFrameMkLst>
        </pc:graphicFrameChg>
      </pc:sldChg>
      <pc:sldChg chg="addSp modSp add mod">
        <pc:chgData name="Daniela Valdés Cárdenas" userId="f8f89820ab55adc2" providerId="LiveId" clId="{E27316B4-7B3D-4134-9022-90109EBC1817}" dt="2025-11-14T02:15:38.288" v="153" actId="20577"/>
        <pc:sldMkLst>
          <pc:docMk/>
          <pc:sldMk cId="3834108421" sldId="257"/>
        </pc:sldMkLst>
        <pc:spChg chg="mod">
          <ac:chgData name="Daniela Valdés Cárdenas" userId="f8f89820ab55adc2" providerId="LiveId" clId="{E27316B4-7B3D-4134-9022-90109EBC1817}" dt="2025-11-14T02:13:52.075" v="119" actId="1076"/>
          <ac:spMkLst>
            <pc:docMk/>
            <pc:sldMk cId="3834108421" sldId="257"/>
            <ac:spMk id="2" creationId="{74F3F675-CC65-1E4D-46EB-612741D20A82}"/>
          </ac:spMkLst>
        </pc:spChg>
        <pc:spChg chg="add mod">
          <ac:chgData name="Daniela Valdés Cárdenas" userId="f8f89820ab55adc2" providerId="LiveId" clId="{E27316B4-7B3D-4134-9022-90109EBC1817}" dt="2025-11-14T02:15:38.288" v="153" actId="20577"/>
          <ac:spMkLst>
            <pc:docMk/>
            <pc:sldMk cId="3834108421" sldId="257"/>
            <ac:spMk id="5" creationId="{C2869AD9-8043-DEE4-F60C-F6BD96A1365E}"/>
          </ac:spMkLst>
        </pc:spChg>
        <pc:graphicFrameChg chg="mod">
          <ac:chgData name="Daniela Valdés Cárdenas" userId="f8f89820ab55adc2" providerId="LiveId" clId="{E27316B4-7B3D-4134-9022-90109EBC1817}" dt="2025-11-14T02:13:56.096" v="120" actId="1076"/>
          <ac:graphicFrameMkLst>
            <pc:docMk/>
            <pc:sldMk cId="3834108421" sldId="257"/>
            <ac:graphicFrameMk id="3" creationId="{488B6FF4-50F5-9C2C-4011-66D702DF7B2B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476672"/>
            <a:ext cx="8229600" cy="1143000"/>
          </a:xfrm>
        </p:spPr>
        <p:txBody>
          <a:bodyPr>
            <a:noAutofit/>
          </a:bodyPr>
          <a:lstStyle/>
          <a:p>
            <a:r>
              <a:rPr lang="es-MX" sz="3200" b="1" dirty="0">
                <a:latin typeface="Aptos" panose="020B0004020202020204" pitchFamily="34" charset="0"/>
              </a:rPr>
              <a:t>Modelo MNL para predecir la elección de un modo de transporte</a:t>
            </a:r>
            <a:endParaRPr sz="3200" b="1" dirty="0"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8520AA-5366-C1FC-9C54-AB1E7FB52CC1}"/>
              </a:ext>
            </a:extLst>
          </p:cNvPr>
          <p:cNvSpPr txBox="1"/>
          <p:nvPr/>
        </p:nvSpPr>
        <p:spPr>
          <a:xfrm>
            <a:off x="457199" y="2420888"/>
            <a:ext cx="81472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dirty="0">
                <a:latin typeface="Aptos" panose="020B0004020202020204" pitchFamily="34" charset="0"/>
              </a:rPr>
              <a:t>Un modelo </a:t>
            </a:r>
            <a:r>
              <a:rPr lang="es-MX" dirty="0" err="1">
                <a:latin typeface="Aptos" panose="020B0004020202020204" pitchFamily="34" charset="0"/>
              </a:rPr>
              <a:t>logit</a:t>
            </a:r>
            <a:r>
              <a:rPr lang="es-MX" dirty="0">
                <a:latin typeface="Aptos" panose="020B0004020202020204" pitchFamily="34" charset="0"/>
              </a:rPr>
              <a:t> multinomial permite estimar la probabilidad de que una persona escoja un modo de transporte según sus características. El modelo aprende, a partir de los datos de la encuesta, cómo variables como sexo, edad, educación, propósito del viaje, distancia, estrato o situación laboral se relacionan con la elección final del modo.</a:t>
            </a:r>
          </a:p>
          <a:p>
            <a:pPr>
              <a:buNone/>
            </a:pPr>
            <a:endParaRPr lang="es-MX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s-MX" dirty="0">
                <a:latin typeface="Aptos" panose="020B0004020202020204" pitchFamily="34" charset="0"/>
              </a:rPr>
              <a:t>Una vez el modelo está estimado, podemos tomar a cualquier individuo, real o hipotético, asignarle valores específicos en cada variable (sus “X”) y pedirle al modelo que calcule cuáles serían sus probabilidades de usar cada modo. Eso es exactamente lo que hicimos aquí.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364D1-5961-88D0-38BE-0B764BA55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3F675-CC65-1E4D-46EB-612741D20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04664"/>
            <a:ext cx="8229600" cy="1143000"/>
          </a:xfrm>
        </p:spPr>
        <p:txBody>
          <a:bodyPr>
            <a:noAutofit/>
          </a:bodyPr>
          <a:lstStyle/>
          <a:p>
            <a:r>
              <a:rPr sz="2400" dirty="0" err="1">
                <a:latin typeface="Aptos" panose="020B0004020202020204" pitchFamily="34" charset="0"/>
              </a:rPr>
              <a:t>Probabilidades</a:t>
            </a:r>
            <a:r>
              <a:rPr sz="2400" dirty="0">
                <a:latin typeface="Aptos" panose="020B0004020202020204" pitchFamily="34" charset="0"/>
              </a:rPr>
              <a:t> de </a:t>
            </a:r>
            <a:r>
              <a:rPr sz="2400" dirty="0" err="1">
                <a:latin typeface="Aptos" panose="020B0004020202020204" pitchFamily="34" charset="0"/>
              </a:rPr>
              <a:t>elección</a:t>
            </a:r>
            <a:r>
              <a:rPr sz="2400" dirty="0">
                <a:latin typeface="Aptos" panose="020B0004020202020204" pitchFamily="34" charset="0"/>
              </a:rPr>
              <a:t> de modo
</a:t>
            </a:r>
            <a:r>
              <a:rPr sz="2400" dirty="0" err="1">
                <a:latin typeface="Aptos" panose="020B0004020202020204" pitchFamily="34" charset="0"/>
              </a:rPr>
              <a:t>Individuo</a:t>
            </a:r>
            <a:r>
              <a:rPr sz="2400" dirty="0">
                <a:latin typeface="Aptos" panose="020B0004020202020204" pitchFamily="34" charset="0"/>
              </a:rPr>
              <a:t> de </a:t>
            </a:r>
            <a:r>
              <a:rPr sz="2400" dirty="0" err="1">
                <a:latin typeface="Aptos" panose="020B0004020202020204" pitchFamily="34" charset="0"/>
              </a:rPr>
              <a:t>ejemplo</a:t>
            </a:r>
            <a:r>
              <a:rPr sz="2400" dirty="0">
                <a:latin typeface="Aptos" panose="020B0004020202020204" pitchFamily="34" charset="0"/>
              </a:rPr>
              <a:t> – Cali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88B6FF4-50F5-9C2C-4011-66D702DF7B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321655"/>
              </p:ext>
            </p:extLst>
          </p:nvPr>
        </p:nvGraphicFramePr>
        <p:xfrm>
          <a:off x="215514" y="1772816"/>
          <a:ext cx="8712969" cy="1313505"/>
        </p:xfrm>
        <a:graphic>
          <a:graphicData uri="http://schemas.openxmlformats.org/drawingml/2006/table">
            <a:tbl>
              <a:tblPr/>
              <a:tblGrid>
                <a:gridCol w="8287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74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29876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88945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modo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pro</a:t>
                      </a:r>
                      <a:r>
                        <a:rPr lang="es-CO"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</a:t>
                      </a:r>
                      <a:endParaRPr sz="11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</a:t>
                      </a:r>
                      <a:r>
                        <a:rPr sz="11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edio</a:t>
                      </a:r>
                      <a:r>
                        <a:rPr lang="es-CO"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sz="11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obs</a:t>
                      </a:r>
                      <a:endParaRPr sz="11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id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edad</a:t>
                      </a:r>
                      <a:endParaRPr sz="11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sexo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edu</a:t>
                      </a:r>
                      <a:r>
                        <a:rPr lang="es-CO"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c</a:t>
                      </a:r>
                      <a:endParaRPr sz="11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prop</a:t>
                      </a:r>
                      <a:r>
                        <a:rPr lang="es-CO" sz="11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ósito</a:t>
                      </a:r>
                      <a:endParaRPr sz="11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dist</a:t>
                      </a:r>
                      <a:r>
                        <a:rPr lang="es-CO" sz="11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ancia</a:t>
                      </a:r>
                      <a:endParaRPr sz="11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estrato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lang="es-CO"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Estatus </a:t>
                      </a:r>
                      <a:r>
                        <a:rPr lang="es-CO" sz="11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lab</a:t>
                      </a:r>
                      <a:endParaRPr sz="11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582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Moto privada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0.964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Transporte público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35 - 54 años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Mujer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Terciaria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Tiempo personal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Entre 4 y 12 km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Bajo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Desocupado o inactivo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582"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Auto privado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0.036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Transporte público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r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35 - 54 años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Mujer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Terciaria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Tiempo personal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Entre 4 y 12 km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Bajo</a:t>
                      </a: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00" marR="63500" algn="l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sz="11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Desocupado</a:t>
                      </a:r>
                      <a:r>
                        <a:rPr sz="1100" b="0" i="0" u="none" strike="noStrike" cap="none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 o </a:t>
                      </a:r>
                      <a:r>
                        <a:rPr sz="1100" b="0" i="0" u="none" strike="noStrike" cap="none" dirty="0" err="1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inactivo</a:t>
                      </a:r>
                      <a:endParaRPr sz="1100" b="0" i="0" u="none" strike="noStrik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63500" marB="635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19050" cap="flat" cmpd="sng" algn="ctr">
                      <a:solidFill>
                        <a:srgbClr val="666666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C2869AD9-8043-DEE4-F60C-F6BD96A1365E}"/>
              </a:ext>
            </a:extLst>
          </p:cNvPr>
          <p:cNvSpPr txBox="1"/>
          <p:nvPr/>
        </p:nvSpPr>
        <p:spPr>
          <a:xfrm>
            <a:off x="215514" y="3861048"/>
            <a:ext cx="87129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sz="1400" dirty="0">
                <a:latin typeface="Aptos" panose="020B0004020202020204" pitchFamily="34" charset="0"/>
              </a:rPr>
              <a:t>Para este ejemplo, seleccionamos a una mujer de entre 35 y 54 años, con educación terciaria, cuyo viaje es por tiempo personal, que se desplaza una distancia entre 4 y 12 km, vive en estrato bajo, y se encuentra en condición de desocupada o inactiva. Estas son las variables que entran al modelo como insumo para calcular las probabilidades.</a:t>
            </a:r>
          </a:p>
          <a:p>
            <a:pPr>
              <a:buNone/>
            </a:pPr>
            <a:endParaRPr lang="es-MX" sz="14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s-MX" sz="1400" dirty="0">
                <a:latin typeface="Aptos" panose="020B0004020202020204" pitchFamily="34" charset="0"/>
              </a:rPr>
              <a:t>Con base en estas características, el modelo estima:</a:t>
            </a:r>
          </a:p>
          <a:p>
            <a:pPr>
              <a:buNone/>
            </a:pPr>
            <a:r>
              <a:rPr lang="es-MX" sz="1400" dirty="0">
                <a:latin typeface="Aptos" panose="020B0004020202020204" pitchFamily="34" charset="0"/>
              </a:rPr>
              <a:t>- 96.4% de probabilidad de que esta persona use moto privada,</a:t>
            </a:r>
          </a:p>
          <a:p>
            <a:pPr marL="171450" indent="-171450">
              <a:buFontTx/>
              <a:buChar char="-"/>
            </a:pPr>
            <a:r>
              <a:rPr lang="es-MX" sz="1400" dirty="0">
                <a:latin typeface="Aptos" panose="020B0004020202020204" pitchFamily="34" charset="0"/>
              </a:rPr>
              <a:t>3.6% de probabilidad de que use auto privado.</a:t>
            </a:r>
          </a:p>
          <a:p>
            <a:pPr marL="171450" indent="-171450">
              <a:buFontTx/>
              <a:buChar char="-"/>
            </a:pPr>
            <a:endParaRPr lang="es-MX" sz="1400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s-MX" sz="1400" dirty="0">
                <a:latin typeface="Aptos" panose="020B0004020202020204" pitchFamily="34" charset="0"/>
              </a:rPr>
              <a:t>Es decir, para el perfil de esta mujer, el modelo considera que es </a:t>
            </a:r>
            <a:r>
              <a:rPr lang="es-MX" sz="1400" i="1" dirty="0">
                <a:latin typeface="Aptos" panose="020B0004020202020204" pitchFamily="34" charset="0"/>
              </a:rPr>
              <a:t>altamente probable</a:t>
            </a:r>
            <a:r>
              <a:rPr lang="es-MX" sz="1400" dirty="0">
                <a:latin typeface="Aptos" panose="020B0004020202020204" pitchFamily="34" charset="0"/>
              </a:rPr>
              <a:t> que se movilice en moto privada y </a:t>
            </a:r>
            <a:r>
              <a:rPr lang="es-MX" sz="1400" i="1" dirty="0">
                <a:latin typeface="Aptos" panose="020B0004020202020204" pitchFamily="34" charset="0"/>
              </a:rPr>
              <a:t>muy poco probable</a:t>
            </a:r>
            <a:r>
              <a:rPr lang="es-MX" sz="1400" dirty="0">
                <a:latin typeface="Aptos" panose="020B0004020202020204" pitchFamily="34" charset="0"/>
              </a:rPr>
              <a:t> que utilice un vehículo particular.</a:t>
            </a:r>
          </a:p>
        </p:txBody>
      </p:sp>
    </p:spTree>
    <p:extLst>
      <p:ext uri="{BB962C8B-B14F-4D97-AF65-F5344CB8AC3E}">
        <p14:creationId xmlns:p14="http://schemas.microsoft.com/office/powerpoint/2010/main" val="38341084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332</Words>
  <Application>Microsoft Office PowerPoint</Application>
  <PresentationFormat>Presentación en pantalla (4:3)</PresentationFormat>
  <Paragraphs>45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Arial</vt:lpstr>
      <vt:lpstr>Calibri</vt:lpstr>
      <vt:lpstr>Office Theme</vt:lpstr>
      <vt:lpstr>Modelo MNL para predecir la elección de un modo de transporte</vt:lpstr>
      <vt:lpstr>Probabilidades de elección de modo
Individuo de ejemplo – Cali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Daniela Valdés Cárdenas</cp:lastModifiedBy>
  <cp:revision>3</cp:revision>
  <dcterms:created xsi:type="dcterms:W3CDTF">2017-02-13T16:18:36Z</dcterms:created>
  <dcterms:modified xsi:type="dcterms:W3CDTF">2025-11-14T02:15:46Z</dcterms:modified>
  <cp:category/>
</cp:coreProperties>
</file>