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9144000" cy="6858000" type="screen4x3"/>
  <p:notesSz cx="6858000" cy="9144000"/>
  <p:custDataLst>
    <p:tags r:id="rId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347DDF-DC25-4523-BB53-8DD46FC2393F}" v="3" dt="2025-11-14T02:25:39.1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1594"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tags" Target="tags/tag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a Valdés Cárdenas" userId="f8f89820ab55adc2" providerId="LiveId" clId="{E27316B4-7B3D-4134-9022-90109EBC1817}"/>
    <pc:docChg chg="custSel addSld modSld">
      <pc:chgData name="Daniela Valdés Cárdenas" userId="f8f89820ab55adc2" providerId="LiveId" clId="{E27316B4-7B3D-4134-9022-90109EBC1817}" dt="2025-11-14T02:32:39.831" v="207" actId="1076"/>
      <pc:docMkLst>
        <pc:docMk/>
      </pc:docMkLst>
      <pc:sldChg chg="addSp delSp modSp mod">
        <pc:chgData name="Daniela Valdés Cárdenas" userId="f8f89820ab55adc2" providerId="LiveId" clId="{E27316B4-7B3D-4134-9022-90109EBC1817}" dt="2025-11-14T02:27:02.386" v="150" actId="20577"/>
        <pc:sldMkLst>
          <pc:docMk/>
          <pc:sldMk cId="0" sldId="256"/>
        </pc:sldMkLst>
        <pc:spChg chg="mod">
          <ac:chgData name="Daniela Valdés Cárdenas" userId="f8f89820ab55adc2" providerId="LiveId" clId="{E27316B4-7B3D-4134-9022-90109EBC1817}" dt="2025-11-14T02:26:00.511" v="125" actId="20577"/>
          <ac:spMkLst>
            <pc:docMk/>
            <pc:sldMk cId="0" sldId="256"/>
            <ac:spMk id="2" creationId="{00000000-0000-0000-0000-000000000000}"/>
          </ac:spMkLst>
        </pc:spChg>
        <pc:spChg chg="add mod">
          <ac:chgData name="Daniela Valdés Cárdenas" userId="f8f89820ab55adc2" providerId="LiveId" clId="{E27316B4-7B3D-4134-9022-90109EBC1817}" dt="2025-11-14T02:27:02.386" v="150" actId="20577"/>
          <ac:spMkLst>
            <pc:docMk/>
            <pc:sldMk cId="0" sldId="256"/>
            <ac:spMk id="5" creationId="{5E64713E-FD06-22A9-9429-883851C10360}"/>
          </ac:spMkLst>
        </pc:spChg>
        <pc:graphicFrameChg chg="del">
          <ac:chgData name="Daniela Valdés Cárdenas" userId="f8f89820ab55adc2" providerId="LiveId" clId="{E27316B4-7B3D-4134-9022-90109EBC1817}" dt="2025-11-14T02:23:13.575" v="72" actId="478"/>
          <ac:graphicFrameMkLst>
            <pc:docMk/>
            <pc:sldMk cId="0" sldId="256"/>
            <ac:graphicFrameMk id="3" creationId="{00000000-0000-0000-0000-000000000000}"/>
          </ac:graphicFrameMkLst>
        </pc:graphicFrameChg>
      </pc:sldChg>
      <pc:sldChg chg="addSp modSp add mod">
        <pc:chgData name="Daniela Valdés Cárdenas" userId="f8f89820ab55adc2" providerId="LiveId" clId="{E27316B4-7B3D-4134-9022-90109EBC1817}" dt="2025-11-14T02:32:39.831" v="207" actId="1076"/>
        <pc:sldMkLst>
          <pc:docMk/>
          <pc:sldMk cId="3694480825" sldId="257"/>
        </pc:sldMkLst>
        <pc:spChg chg="mod">
          <ac:chgData name="Daniela Valdés Cárdenas" userId="f8f89820ab55adc2" providerId="LiveId" clId="{E27316B4-7B3D-4134-9022-90109EBC1817}" dt="2025-11-14T02:27:19.797" v="154" actId="20577"/>
          <ac:spMkLst>
            <pc:docMk/>
            <pc:sldMk cId="3694480825" sldId="257"/>
            <ac:spMk id="2" creationId="{BE7237E7-6EA3-CA69-7670-11BB26E7A204}"/>
          </ac:spMkLst>
        </pc:spChg>
        <pc:spChg chg="add mod">
          <ac:chgData name="Daniela Valdés Cárdenas" userId="f8f89820ab55adc2" providerId="LiveId" clId="{E27316B4-7B3D-4134-9022-90109EBC1817}" dt="2025-11-14T02:32:39.831" v="207" actId="1076"/>
          <ac:spMkLst>
            <pc:docMk/>
            <pc:sldMk cId="3694480825" sldId="257"/>
            <ac:spMk id="5" creationId="{028450FF-EFB0-C372-26AF-F83201B76249}"/>
          </ac:spMkLst>
        </pc:spChg>
        <pc:spChg chg="add mod">
          <ac:chgData name="Daniela Valdés Cárdenas" userId="f8f89820ab55adc2" providerId="LiveId" clId="{E27316B4-7B3D-4134-9022-90109EBC1817}" dt="2025-11-14T02:32:32.886" v="205" actId="404"/>
          <ac:spMkLst>
            <pc:docMk/>
            <pc:sldMk cId="3694480825" sldId="257"/>
            <ac:spMk id="7" creationId="{222B0970-4236-E9ED-BE7F-4134AC43F78E}"/>
          </ac:spMkLst>
        </pc:spChg>
        <pc:graphicFrameChg chg="mod modGraphic">
          <ac:chgData name="Daniela Valdés Cárdenas" userId="f8f89820ab55adc2" providerId="LiveId" clId="{E27316B4-7B3D-4134-9022-90109EBC1817}" dt="2025-11-14T02:32:37.254" v="206" actId="1076"/>
          <ac:graphicFrameMkLst>
            <pc:docMk/>
            <pc:sldMk cId="3694480825" sldId="257"/>
            <ac:graphicFrameMk id="3" creationId="{7C4FC440-D012-FAF6-BEAE-4415F96D18C3}"/>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13/11/2025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‹Nº›</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13/11/2025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‹Nº›</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13/11/2025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‹Nº›</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13/11/2025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‹Nº›</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13/11/2025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‹Nº›</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13/11/2025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‹Nº›</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13/11/2025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‹Nº›</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13/11/2025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‹Nº›</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0688"/>
            <a:ext cx="8229600" cy="1143000"/>
          </a:xfrm>
        </p:spPr>
        <p:txBody>
          <a:bodyPr>
            <a:noAutofit/>
          </a:bodyPr>
          <a:lstStyle/>
          <a:p>
            <a:r>
              <a:rPr lang="es-MX" sz="3600" b="1" dirty="0">
                <a:latin typeface="Aptos" panose="020B0004020202020204" pitchFamily="34" charset="0"/>
              </a:rPr>
              <a:t>Modelo MNL para predecir la elección de modo de transporte</a:t>
            </a:r>
            <a:endParaRPr sz="3600" b="1" dirty="0">
              <a:latin typeface="Aptos" panose="020B0004020202020204" pitchFamily="34" charset="0"/>
            </a:endParaRPr>
          </a:p>
        </p:txBody>
      </p:sp>
      <p:sp>
        <p:nvSpPr>
          <p:cNvPr id="5" name="CuadroTexto 4">
            <a:extLst>
              <a:ext uri="{FF2B5EF4-FFF2-40B4-BE49-F238E27FC236}">
                <a16:creationId xmlns:a16="http://schemas.microsoft.com/office/drawing/2014/main" id="{5E64713E-FD06-22A9-9429-883851C10360}"/>
              </a:ext>
            </a:extLst>
          </p:cNvPr>
          <p:cNvSpPr txBox="1"/>
          <p:nvPr/>
        </p:nvSpPr>
        <p:spPr>
          <a:xfrm>
            <a:off x="457200" y="2420888"/>
            <a:ext cx="8229600" cy="2862322"/>
          </a:xfrm>
          <a:prstGeom prst="rect">
            <a:avLst/>
          </a:prstGeom>
          <a:noFill/>
        </p:spPr>
        <p:txBody>
          <a:bodyPr wrap="square">
            <a:spAutoFit/>
          </a:bodyPr>
          <a:lstStyle/>
          <a:p>
            <a:pPr>
              <a:buNone/>
            </a:pPr>
            <a:r>
              <a:rPr lang="es-MX" dirty="0">
                <a:latin typeface="Aptos" panose="020B0004020202020204" pitchFamily="34" charset="0"/>
              </a:rPr>
              <a:t>El modelo </a:t>
            </a:r>
            <a:r>
              <a:rPr lang="es-MX" dirty="0" err="1">
                <a:latin typeface="Aptos" panose="020B0004020202020204" pitchFamily="34" charset="0"/>
              </a:rPr>
              <a:t>logit</a:t>
            </a:r>
            <a:r>
              <a:rPr lang="es-MX" dirty="0">
                <a:latin typeface="Aptos" panose="020B0004020202020204" pitchFamily="34" charset="0"/>
              </a:rPr>
              <a:t> multinomial permite calcular, para cualquier persona, la probabilidad de elegir cada modo de transporte en función de sus características sociodemográficas, del viaje y demás. A partir de los datos de la encuesta, el modelo aprende qué combinaciones de sexo, edad, educación, propósito del viaje, distancia, estrato y situación laboral se asocian más con cada modo.</a:t>
            </a:r>
          </a:p>
          <a:p>
            <a:pPr>
              <a:buNone/>
            </a:pPr>
            <a:endParaRPr lang="es-MX" dirty="0">
              <a:latin typeface="Aptos" panose="020B0004020202020204" pitchFamily="34" charset="0"/>
            </a:endParaRPr>
          </a:p>
          <a:p>
            <a:pPr>
              <a:buNone/>
            </a:pPr>
            <a:r>
              <a:rPr lang="es-MX" dirty="0">
                <a:latin typeface="Aptos" panose="020B0004020202020204" pitchFamily="34" charset="0"/>
              </a:rPr>
              <a:t>Una vez estimado el modelo, podemos tomar un individuo de la muestra o un individuo hipotético, fijar sus valores en las variables explicativas, y pedirle al modelo que nos entregue las probabilidades de que esa persona use cada modo de transporte.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E9419-4797-1429-ADF1-BB304AC7E5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237E7-6EA3-CA69-7670-11BB26E7A204}"/>
              </a:ext>
            </a:extLst>
          </p:cNvPr>
          <p:cNvSpPr>
            <a:spLocks noGrp="1"/>
          </p:cNvSpPr>
          <p:nvPr>
            <p:ph type="title"/>
          </p:nvPr>
        </p:nvSpPr>
        <p:spPr>
          <a:xfrm>
            <a:off x="457200" y="274638"/>
            <a:ext cx="8229600" cy="1143000"/>
          </a:xfrm>
        </p:spPr>
        <p:txBody>
          <a:bodyPr>
            <a:noAutofit/>
          </a:bodyPr>
          <a:lstStyle/>
          <a:p>
            <a:r>
              <a:rPr sz="3200" b="1" dirty="0" err="1">
                <a:latin typeface="Aptos" panose="020B0004020202020204" pitchFamily="34" charset="0"/>
              </a:rPr>
              <a:t>Probabilidades</a:t>
            </a:r>
            <a:r>
              <a:rPr sz="3200" b="1" dirty="0">
                <a:latin typeface="Aptos" panose="020B0004020202020204" pitchFamily="34" charset="0"/>
              </a:rPr>
              <a:t> de </a:t>
            </a:r>
            <a:r>
              <a:rPr sz="3200" b="1" dirty="0" err="1">
                <a:latin typeface="Aptos" panose="020B0004020202020204" pitchFamily="34" charset="0"/>
              </a:rPr>
              <a:t>elección</a:t>
            </a:r>
            <a:r>
              <a:rPr sz="3200" b="1" dirty="0">
                <a:latin typeface="Aptos" panose="020B0004020202020204" pitchFamily="34" charset="0"/>
              </a:rPr>
              <a:t> de modo
</a:t>
            </a:r>
            <a:r>
              <a:rPr sz="2800" b="1" dirty="0" err="1">
                <a:latin typeface="Aptos" panose="020B0004020202020204" pitchFamily="34" charset="0"/>
              </a:rPr>
              <a:t>Individuo</a:t>
            </a:r>
            <a:r>
              <a:rPr sz="2800" b="1" dirty="0">
                <a:latin typeface="Aptos" panose="020B0004020202020204" pitchFamily="34" charset="0"/>
              </a:rPr>
              <a:t> de </a:t>
            </a:r>
            <a:r>
              <a:rPr sz="2800" b="1" dirty="0" err="1">
                <a:latin typeface="Aptos" panose="020B0004020202020204" pitchFamily="34" charset="0"/>
              </a:rPr>
              <a:t>ejemplo</a:t>
            </a:r>
            <a:r>
              <a:rPr sz="2800" b="1" dirty="0">
                <a:latin typeface="Aptos" panose="020B0004020202020204" pitchFamily="34" charset="0"/>
              </a:rPr>
              <a:t> </a:t>
            </a:r>
            <a:r>
              <a:rPr lang="es-CO" sz="2800" b="1" dirty="0">
                <a:latin typeface="Aptos" panose="020B0004020202020204" pitchFamily="34" charset="0"/>
              </a:rPr>
              <a:t>-</a:t>
            </a:r>
            <a:r>
              <a:rPr sz="2800" b="1" dirty="0">
                <a:latin typeface="Aptos" panose="020B0004020202020204" pitchFamily="34" charset="0"/>
              </a:rPr>
              <a:t> Medellín</a:t>
            </a:r>
            <a:endParaRPr sz="3200" b="1" dirty="0">
              <a:latin typeface="Aptos" panose="020B0004020202020204" pitchFamily="34" charset="0"/>
            </a:endParaRPr>
          </a:p>
        </p:txBody>
      </p:sp>
      <p:graphicFrame>
        <p:nvGraphicFramePr>
          <p:cNvPr id="3" name="Content Placeholder 2">
            <a:extLst>
              <a:ext uri="{FF2B5EF4-FFF2-40B4-BE49-F238E27FC236}">
                <a16:creationId xmlns:a16="http://schemas.microsoft.com/office/drawing/2014/main" id="{7C4FC440-D012-FAF6-BEAE-4415F96D18C3}"/>
              </a:ext>
            </a:extLst>
          </p:cNvPr>
          <p:cNvGraphicFramePr>
            <a:graphicFrameLocks noGrp="1"/>
          </p:cNvGraphicFramePr>
          <p:nvPr>
            <p:extLst>
              <p:ext uri="{D42A27DB-BD31-4B8C-83A1-F6EECF244321}">
                <p14:modId xmlns:p14="http://schemas.microsoft.com/office/powerpoint/2010/main" val="3227018366"/>
              </p:ext>
            </p:extLst>
          </p:nvPr>
        </p:nvGraphicFramePr>
        <p:xfrm>
          <a:off x="94672" y="2492896"/>
          <a:ext cx="8712969" cy="1313505"/>
        </p:xfrm>
        <a:graphic>
          <a:graphicData uri="http://schemas.openxmlformats.org/drawingml/2006/table">
            <a:tbl>
              <a:tblPr/>
              <a:tblGrid>
                <a:gridCol w="791523">
                  <a:extLst>
                    <a:ext uri="{9D8B030D-6E8A-4147-A177-3AD203B41FA5}">
                      <a16:colId xmlns:a16="http://schemas.microsoft.com/office/drawing/2014/main" val="20000"/>
                    </a:ext>
                  </a:extLst>
                </a:gridCol>
                <a:gridCol w="612634">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288032">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504056">
                  <a:extLst>
                    <a:ext uri="{9D8B030D-6E8A-4147-A177-3AD203B41FA5}">
                      <a16:colId xmlns:a16="http://schemas.microsoft.com/office/drawing/2014/main" val="20005"/>
                    </a:ext>
                  </a:extLst>
                </a:gridCol>
                <a:gridCol w="851482">
                  <a:extLst>
                    <a:ext uri="{9D8B030D-6E8A-4147-A177-3AD203B41FA5}">
                      <a16:colId xmlns:a16="http://schemas.microsoft.com/office/drawing/2014/main" val="20006"/>
                    </a:ext>
                  </a:extLst>
                </a:gridCol>
                <a:gridCol w="808858">
                  <a:extLst>
                    <a:ext uri="{9D8B030D-6E8A-4147-A177-3AD203B41FA5}">
                      <a16:colId xmlns:a16="http://schemas.microsoft.com/office/drawing/2014/main" val="20007"/>
                    </a:ext>
                  </a:extLst>
                </a:gridCol>
                <a:gridCol w="843224">
                  <a:extLst>
                    <a:ext uri="{9D8B030D-6E8A-4147-A177-3AD203B41FA5}">
                      <a16:colId xmlns:a16="http://schemas.microsoft.com/office/drawing/2014/main" val="20008"/>
                    </a:ext>
                  </a:extLst>
                </a:gridCol>
                <a:gridCol w="736796">
                  <a:extLst>
                    <a:ext uri="{9D8B030D-6E8A-4147-A177-3AD203B41FA5}">
                      <a16:colId xmlns:a16="http://schemas.microsoft.com/office/drawing/2014/main" val="20009"/>
                    </a:ext>
                  </a:extLst>
                </a:gridCol>
                <a:gridCol w="1548172">
                  <a:extLst>
                    <a:ext uri="{9D8B030D-6E8A-4147-A177-3AD203B41FA5}">
                      <a16:colId xmlns:a16="http://schemas.microsoft.com/office/drawing/2014/main" val="20010"/>
                    </a:ext>
                  </a:extLst>
                </a:gridCol>
              </a:tblGrid>
              <a:tr h="388945">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modo</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strike="noStrike" cap="none" dirty="0">
                          <a:solidFill>
                            <a:srgbClr val="000000">
                              <a:alpha val="100000"/>
                            </a:srgbClr>
                          </a:solidFill>
                          <a:latin typeface="Arial"/>
                          <a:cs typeface="Arial"/>
                          <a:sym typeface="Arial"/>
                        </a:rPr>
                        <a:t>prob</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lang="es-CO" sz="1100" b="0" i="0" u="none" strike="noStrike" cap="none" dirty="0">
                          <a:solidFill>
                            <a:srgbClr val="000000">
                              <a:alpha val="100000"/>
                            </a:srgbClr>
                          </a:solidFill>
                          <a:latin typeface="Arial"/>
                          <a:cs typeface="Arial"/>
                          <a:sym typeface="Arial"/>
                        </a:rPr>
                        <a:t>M</a:t>
                      </a:r>
                      <a:r>
                        <a:rPr sz="1100" b="0" i="0" u="none" strike="noStrike" cap="none" dirty="0" err="1">
                          <a:solidFill>
                            <a:srgbClr val="000000">
                              <a:alpha val="100000"/>
                            </a:srgbClr>
                          </a:solidFill>
                          <a:latin typeface="Arial"/>
                          <a:cs typeface="Arial"/>
                          <a:sym typeface="Arial"/>
                        </a:rPr>
                        <a:t>edio</a:t>
                      </a:r>
                      <a:r>
                        <a:rPr lang="es-CO" sz="1100" b="0" i="0" u="none" strike="noStrike" cap="none" dirty="0">
                          <a:solidFill>
                            <a:srgbClr val="000000">
                              <a:alpha val="100000"/>
                            </a:srgbClr>
                          </a:solidFill>
                          <a:latin typeface="Arial"/>
                          <a:cs typeface="Arial"/>
                          <a:sym typeface="Arial"/>
                        </a:rPr>
                        <a:t> </a:t>
                      </a:r>
                      <a:r>
                        <a:rPr sz="1100" b="0" i="0" u="none" strike="noStrike" cap="none" dirty="0" err="1">
                          <a:solidFill>
                            <a:srgbClr val="000000">
                              <a:alpha val="100000"/>
                            </a:srgbClr>
                          </a:solidFill>
                          <a:latin typeface="Arial"/>
                          <a:cs typeface="Arial"/>
                          <a:sym typeface="Arial"/>
                        </a:rPr>
                        <a:t>obs</a:t>
                      </a:r>
                      <a:endParaRPr sz="1100" b="0" i="0" u="none" strike="noStrik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id</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dirty="0" err="1">
                          <a:solidFill>
                            <a:srgbClr val="000000">
                              <a:alpha val="100000"/>
                            </a:srgbClr>
                          </a:solidFill>
                          <a:latin typeface="Arial"/>
                          <a:cs typeface="Arial"/>
                          <a:sym typeface="Arial"/>
                        </a:rPr>
                        <a:t>edad</a:t>
                      </a:r>
                      <a:endParaRPr sz="1100" b="0" i="0" u="none" strike="noStrik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sexo</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educ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lang="es-CO" sz="1100" b="0" i="0" u="none" strike="noStrike" cap="none" dirty="0">
                          <a:solidFill>
                            <a:srgbClr val="000000">
                              <a:alpha val="100000"/>
                            </a:srgbClr>
                          </a:solidFill>
                          <a:latin typeface="Arial"/>
                          <a:cs typeface="Arial"/>
                          <a:sym typeface="Arial"/>
                        </a:rPr>
                        <a:t>p</a:t>
                      </a:r>
                      <a:r>
                        <a:rPr sz="1100" b="0" i="0" u="none" strike="noStrike" cap="none" dirty="0" err="1">
                          <a:solidFill>
                            <a:srgbClr val="000000">
                              <a:alpha val="100000"/>
                            </a:srgbClr>
                          </a:solidFill>
                          <a:latin typeface="Arial"/>
                          <a:cs typeface="Arial"/>
                          <a:sym typeface="Arial"/>
                        </a:rPr>
                        <a:t>rop</a:t>
                      </a:r>
                      <a:r>
                        <a:rPr lang="es-CO" sz="1100" b="0" i="0" u="none" strike="noStrike" cap="none" dirty="0" err="1">
                          <a:solidFill>
                            <a:srgbClr val="000000">
                              <a:alpha val="100000"/>
                            </a:srgbClr>
                          </a:solidFill>
                          <a:latin typeface="Arial"/>
                          <a:cs typeface="Arial"/>
                          <a:sym typeface="Arial"/>
                        </a:rPr>
                        <a:t>ósito</a:t>
                      </a:r>
                      <a:endParaRPr sz="1100" b="0" i="0" u="none" strike="noStrik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dirty="0" err="1">
                          <a:solidFill>
                            <a:srgbClr val="000000">
                              <a:alpha val="100000"/>
                            </a:srgbClr>
                          </a:solidFill>
                          <a:latin typeface="Arial"/>
                          <a:cs typeface="Arial"/>
                          <a:sym typeface="Arial"/>
                        </a:rPr>
                        <a:t>dist</a:t>
                      </a:r>
                      <a:r>
                        <a:rPr lang="es-CO" sz="1100" b="0" i="0" u="none" strike="noStrike" cap="none" dirty="0" err="1">
                          <a:solidFill>
                            <a:srgbClr val="000000">
                              <a:alpha val="100000"/>
                            </a:srgbClr>
                          </a:solidFill>
                          <a:latin typeface="Arial"/>
                          <a:cs typeface="Arial"/>
                          <a:sym typeface="Arial"/>
                        </a:rPr>
                        <a:t>ancia</a:t>
                      </a:r>
                      <a:endParaRPr sz="1100" b="0" i="0" u="none" strike="noStrik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estrato</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sitio_lab</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071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Moto privada</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0.567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Moto privada</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35 - 54 años</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Mujer</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Secundaria</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Trabajo</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Más de 15 km</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Medio</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Trabajo doméstico no remunerado</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01"/>
                  </a:ext>
                </a:extLst>
              </a:tr>
              <a:tr h="39071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Auto privado</a:t>
                      </a: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0.433</a:t>
                      </a: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Moto privada</a:t>
                      </a: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1</a:t>
                      </a: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35 - 54 años</a:t>
                      </a: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Mujer</a:t>
                      </a: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dirty="0" err="1">
                          <a:solidFill>
                            <a:srgbClr val="000000">
                              <a:alpha val="100000"/>
                            </a:srgbClr>
                          </a:solidFill>
                          <a:latin typeface="Arial"/>
                          <a:cs typeface="Arial"/>
                          <a:sym typeface="Arial"/>
                        </a:rPr>
                        <a:t>Secundaria</a:t>
                      </a:r>
                      <a:endParaRPr sz="1100" b="0" i="0" u="none" strike="noStrik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Trabajo</a:t>
                      </a: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Más de 15 km</a:t>
                      </a: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Arial"/>
                          <a:cs typeface="Arial"/>
                          <a:sym typeface="Arial"/>
                        </a:rPr>
                        <a:t>Medio</a:t>
                      </a: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100" b="0" i="0" u="none" strike="noStrike" cap="none" dirty="0" err="1">
                          <a:solidFill>
                            <a:srgbClr val="000000">
                              <a:alpha val="100000"/>
                            </a:srgbClr>
                          </a:solidFill>
                          <a:latin typeface="Arial"/>
                          <a:cs typeface="Arial"/>
                          <a:sym typeface="Arial"/>
                        </a:rPr>
                        <a:t>Trabajo</a:t>
                      </a:r>
                      <a:r>
                        <a:rPr sz="1100" b="0" i="0" u="none" strike="noStrike" cap="none" dirty="0">
                          <a:solidFill>
                            <a:srgbClr val="000000">
                              <a:alpha val="100000"/>
                            </a:srgbClr>
                          </a:solidFill>
                          <a:latin typeface="Arial"/>
                          <a:cs typeface="Arial"/>
                          <a:sym typeface="Arial"/>
                        </a:rPr>
                        <a:t> </a:t>
                      </a:r>
                      <a:r>
                        <a:rPr sz="1100" b="0" i="0" u="none" strike="noStrike" cap="none" dirty="0" err="1">
                          <a:solidFill>
                            <a:srgbClr val="000000">
                              <a:alpha val="100000"/>
                            </a:srgbClr>
                          </a:solidFill>
                          <a:latin typeface="Arial"/>
                          <a:cs typeface="Arial"/>
                          <a:sym typeface="Arial"/>
                        </a:rPr>
                        <a:t>doméstico</a:t>
                      </a:r>
                      <a:r>
                        <a:rPr sz="1100" b="0" i="0" u="none" strike="noStrike" cap="none" dirty="0">
                          <a:solidFill>
                            <a:srgbClr val="000000">
                              <a:alpha val="100000"/>
                            </a:srgbClr>
                          </a:solidFill>
                          <a:latin typeface="Arial"/>
                          <a:cs typeface="Arial"/>
                          <a:sym typeface="Arial"/>
                        </a:rPr>
                        <a:t> no </a:t>
                      </a:r>
                      <a:r>
                        <a:rPr sz="1100" b="0" i="0" u="none" strike="noStrike" cap="none" dirty="0" err="1">
                          <a:solidFill>
                            <a:srgbClr val="000000">
                              <a:alpha val="100000"/>
                            </a:srgbClr>
                          </a:solidFill>
                          <a:latin typeface="Arial"/>
                          <a:cs typeface="Arial"/>
                          <a:sym typeface="Arial"/>
                        </a:rPr>
                        <a:t>remunerado</a:t>
                      </a:r>
                      <a:endParaRPr sz="1100" b="0" i="0" u="none" strike="noStrik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0" cap="flat" cmpd="sng" algn="ctr">
                      <a:no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sp>
        <p:nvSpPr>
          <p:cNvPr id="5" name="CuadroTexto 4">
            <a:extLst>
              <a:ext uri="{FF2B5EF4-FFF2-40B4-BE49-F238E27FC236}">
                <a16:creationId xmlns:a16="http://schemas.microsoft.com/office/drawing/2014/main" id="{028450FF-EFB0-C372-26AF-F83201B76249}"/>
              </a:ext>
            </a:extLst>
          </p:cNvPr>
          <p:cNvSpPr txBox="1"/>
          <p:nvPr/>
        </p:nvSpPr>
        <p:spPr>
          <a:xfrm>
            <a:off x="336355" y="4437112"/>
            <a:ext cx="8471284" cy="1815882"/>
          </a:xfrm>
          <a:prstGeom prst="rect">
            <a:avLst/>
          </a:prstGeom>
          <a:noFill/>
        </p:spPr>
        <p:txBody>
          <a:bodyPr wrap="square">
            <a:spAutoFit/>
          </a:bodyPr>
          <a:lstStyle/>
          <a:p>
            <a:pPr>
              <a:buNone/>
            </a:pPr>
            <a:r>
              <a:rPr lang="es-MX" sz="1400" dirty="0">
                <a:latin typeface="Aptos" panose="020B0004020202020204" pitchFamily="34" charset="0"/>
              </a:rPr>
              <a:t>El modelo de Medellín, usando estas características como insumo, estima las siguientes probabilidades de elección de modo:</a:t>
            </a:r>
          </a:p>
          <a:p>
            <a:pPr marL="285750" indent="-285750">
              <a:buFontTx/>
              <a:buChar char="-"/>
            </a:pPr>
            <a:r>
              <a:rPr lang="es-MX" sz="1400" dirty="0">
                <a:latin typeface="Aptos" panose="020B0004020202020204" pitchFamily="34" charset="0"/>
              </a:rPr>
              <a:t>56,7 % de probabilidad de que esta persona use moto privada,</a:t>
            </a:r>
          </a:p>
          <a:p>
            <a:pPr marL="285750" indent="-285750">
              <a:buFontTx/>
              <a:buChar char="-"/>
            </a:pPr>
            <a:r>
              <a:rPr lang="es-MX" sz="1400" dirty="0">
                <a:latin typeface="Aptos" panose="020B0004020202020204" pitchFamily="34" charset="0"/>
              </a:rPr>
              <a:t>43,3 % de probabilidad de que use auto privado.</a:t>
            </a:r>
          </a:p>
          <a:p>
            <a:endParaRPr lang="es-MX" sz="1400" dirty="0">
              <a:latin typeface="Aptos" panose="020B0004020202020204" pitchFamily="34" charset="0"/>
            </a:endParaRPr>
          </a:p>
          <a:p>
            <a:pPr>
              <a:buNone/>
            </a:pPr>
            <a:r>
              <a:rPr lang="es-MX" sz="1400" dirty="0">
                <a:latin typeface="Aptos" panose="020B0004020202020204" pitchFamily="34" charset="0"/>
              </a:rPr>
              <a:t>Es decir, para este perfil específico, el modelo considera que es ligeramente más probable que la mujer se movilice en moto privada que en auto privado, aunque ambas opciones tienen probabilidades relativamente altas y cercanas entre sí.</a:t>
            </a:r>
          </a:p>
        </p:txBody>
      </p:sp>
      <p:sp>
        <p:nvSpPr>
          <p:cNvPr id="7" name="CuadroTexto 6">
            <a:extLst>
              <a:ext uri="{FF2B5EF4-FFF2-40B4-BE49-F238E27FC236}">
                <a16:creationId xmlns:a16="http://schemas.microsoft.com/office/drawing/2014/main" id="{222B0970-4236-E9ED-BE7F-4134AC43F78E}"/>
              </a:ext>
            </a:extLst>
          </p:cNvPr>
          <p:cNvSpPr txBox="1"/>
          <p:nvPr/>
        </p:nvSpPr>
        <p:spPr>
          <a:xfrm>
            <a:off x="215513" y="1859340"/>
            <a:ext cx="8712969" cy="307777"/>
          </a:xfrm>
          <a:prstGeom prst="rect">
            <a:avLst/>
          </a:prstGeom>
          <a:noFill/>
        </p:spPr>
        <p:txBody>
          <a:bodyPr wrap="square">
            <a:spAutoFit/>
          </a:bodyPr>
          <a:lstStyle/>
          <a:p>
            <a:pPr>
              <a:buNone/>
            </a:pPr>
            <a:r>
              <a:rPr lang="es-MX" sz="1400" dirty="0">
                <a:latin typeface="Aptos" panose="020B0004020202020204" pitchFamily="34" charset="0"/>
              </a:rPr>
              <a:t>Para ilustrar este procedimiento, seleccionamos del conjunto de datos a una mujer con el siguiente perfil:</a:t>
            </a:r>
          </a:p>
        </p:txBody>
      </p:sp>
    </p:spTree>
    <p:extLst>
      <p:ext uri="{BB962C8B-B14F-4D97-AF65-F5344CB8AC3E}">
        <p14:creationId xmlns:p14="http://schemas.microsoft.com/office/powerpoint/2010/main" val="36944808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298</Words>
  <Application>Microsoft Office PowerPoint</Application>
  <PresentationFormat>Presentación en pantalla (4:3)</PresentationFormat>
  <Paragraphs>44</Paragraphs>
  <Slides>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vt:i4>
      </vt:variant>
    </vt:vector>
  </HeadingPairs>
  <TitlesOfParts>
    <vt:vector size="6" baseType="lpstr">
      <vt:lpstr>Aptos</vt:lpstr>
      <vt:lpstr>Arial</vt:lpstr>
      <vt:lpstr>Calibri</vt:lpstr>
      <vt:lpstr>Office Theme</vt:lpstr>
      <vt:lpstr>Modelo MNL para predecir la elección de modo de transporte</vt:lpstr>
      <vt:lpstr>Probabilidades de elección de modo
Individuo de ejemplo - Medellín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Daniela Valdés Cárdenas</cp:lastModifiedBy>
  <cp:revision>3</cp:revision>
  <dcterms:created xsi:type="dcterms:W3CDTF">2017-02-13T16:18:36Z</dcterms:created>
  <dcterms:modified xsi:type="dcterms:W3CDTF">2025-11-14T02:32:43Z</dcterms:modified>
  <cp:category/>
</cp:coreProperties>
</file>