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9"/>
  </p:notesMasterIdLst>
  <p:sldIdLst>
    <p:sldId id="256" r:id="rId5"/>
    <p:sldId id="385" r:id="rId6"/>
    <p:sldId id="393" r:id="rId7"/>
    <p:sldId id="392" r:id="rId8"/>
    <p:sldId id="394" r:id="rId9"/>
    <p:sldId id="395" r:id="rId10"/>
    <p:sldId id="266" r:id="rId11"/>
    <p:sldId id="362" r:id="rId12"/>
    <p:sldId id="260" r:id="rId13"/>
    <p:sldId id="391" r:id="rId14"/>
    <p:sldId id="390" r:id="rId15"/>
    <p:sldId id="370" r:id="rId16"/>
    <p:sldId id="369" r:id="rId17"/>
    <p:sldId id="376" r:id="rId18"/>
    <p:sldId id="366" r:id="rId19"/>
    <p:sldId id="371" r:id="rId20"/>
    <p:sldId id="372" r:id="rId21"/>
    <p:sldId id="378" r:id="rId22"/>
    <p:sldId id="374" r:id="rId23"/>
    <p:sldId id="375" r:id="rId24"/>
    <p:sldId id="377" r:id="rId25"/>
    <p:sldId id="379" r:id="rId26"/>
    <p:sldId id="257" r:id="rId27"/>
    <p:sldId id="368" r:id="rId28"/>
    <p:sldId id="380" r:id="rId29"/>
    <p:sldId id="382" r:id="rId30"/>
    <p:sldId id="386" r:id="rId31"/>
    <p:sldId id="381" r:id="rId32"/>
    <p:sldId id="383" r:id="rId33"/>
    <p:sldId id="384" r:id="rId34"/>
    <p:sldId id="387" r:id="rId35"/>
    <p:sldId id="388" r:id="rId36"/>
    <p:sldId id="389" r:id="rId37"/>
    <p:sldId id="287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i6Pf/0Ya/0Jkfz6Hrqp3QldIMT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BAD2"/>
    <a:srgbClr val="992EC4"/>
    <a:srgbClr val="BFDFF3"/>
    <a:srgbClr val="9CDBE8"/>
    <a:srgbClr val="64C6DA"/>
    <a:srgbClr val="6699FF"/>
    <a:srgbClr val="CCCCFF"/>
    <a:srgbClr val="99CCFF"/>
    <a:srgbClr val="F0E3F1"/>
    <a:srgbClr val="D5B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26EAFF-B65E-4726-8E2E-975139FAE1F5}">
  <a:tblStyle styleId="{BC26EAFF-B65E-4726-8E2E-975139FAE1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91" autoAdjust="0"/>
  </p:normalViewPr>
  <p:slideViewPr>
    <p:cSldViewPr snapToGrid="0">
      <p:cViewPr varScale="1">
        <p:scale>
          <a:sx n="69" d="100"/>
          <a:sy n="69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leen Georjahna Salazar Serna" userId="ae11ef47-7b3f-4666-9f4d-d0225b013519" providerId="ADAL" clId="{B2B4444C-8C96-4FF3-8B66-EF28780BFBCE}"/>
    <pc:docChg chg="custSel addSld modSld sldOrd">
      <pc:chgData name="Kathleen Georjahna Salazar Serna" userId="ae11ef47-7b3f-4666-9f4d-d0225b013519" providerId="ADAL" clId="{B2B4444C-8C96-4FF3-8B66-EF28780BFBCE}" dt="2025-11-21T18:38:03.603" v="199"/>
      <pc:docMkLst>
        <pc:docMk/>
      </pc:docMkLst>
      <pc:sldChg chg="addSp delSp modSp">
        <pc:chgData name="Kathleen Georjahna Salazar Serna" userId="ae11ef47-7b3f-4666-9f4d-d0225b013519" providerId="ADAL" clId="{B2B4444C-8C96-4FF3-8B66-EF28780BFBCE}" dt="2025-11-21T18:33:04.885" v="197" actId="478"/>
        <pc:sldMkLst>
          <pc:docMk/>
          <pc:sldMk cId="4023743805" sldId="392"/>
        </pc:sldMkLst>
        <pc:picChg chg="add del mod modCrop">
          <ac:chgData name="Kathleen Georjahna Salazar Serna" userId="ae11ef47-7b3f-4666-9f4d-d0225b013519" providerId="ADAL" clId="{B2B4444C-8C96-4FF3-8B66-EF28780BFBCE}" dt="2025-11-21T18:33:04.885" v="197" actId="478"/>
          <ac:picMkLst>
            <pc:docMk/>
            <pc:sldMk cId="4023743805" sldId="392"/>
            <ac:picMk id="5" creationId="{725DE74E-989F-4AB1-AE18-F81B47474E8E}"/>
          </ac:picMkLst>
        </pc:picChg>
      </pc:sldChg>
      <pc:sldChg chg="addSp delSp modSp add ord">
        <pc:chgData name="Kathleen Georjahna Salazar Serna" userId="ae11ef47-7b3f-4666-9f4d-d0225b013519" providerId="ADAL" clId="{B2B4444C-8C96-4FF3-8B66-EF28780BFBCE}" dt="2025-11-21T16:29:29.292" v="191"/>
        <pc:sldMkLst>
          <pc:docMk/>
          <pc:sldMk cId="1371095429" sldId="393"/>
        </pc:sldMkLst>
        <pc:spChg chg="mod">
          <ac:chgData name="Kathleen Georjahna Salazar Serna" userId="ae11ef47-7b3f-4666-9f4d-d0225b013519" providerId="ADAL" clId="{B2B4444C-8C96-4FF3-8B66-EF28780BFBCE}" dt="2025-11-21T16:25:53.433" v="19" actId="122"/>
          <ac:spMkLst>
            <pc:docMk/>
            <pc:sldMk cId="1371095429" sldId="393"/>
            <ac:spMk id="2" creationId="{AA7BB764-E9AC-40F0-AE25-C75C2EFAD2E6}"/>
          </ac:spMkLst>
        </pc:spChg>
        <pc:spChg chg="del">
          <ac:chgData name="Kathleen Georjahna Salazar Serna" userId="ae11ef47-7b3f-4666-9f4d-d0225b013519" providerId="ADAL" clId="{B2B4444C-8C96-4FF3-8B66-EF28780BFBCE}" dt="2025-11-21T16:25:55.232" v="20" actId="478"/>
          <ac:spMkLst>
            <pc:docMk/>
            <pc:sldMk cId="1371095429" sldId="393"/>
            <ac:spMk id="3" creationId="{C81F7B94-3970-4DED-9E7C-31B83E155845}"/>
          </ac:spMkLst>
        </pc:spChg>
        <pc:spChg chg="add mod">
          <ac:chgData name="Kathleen Georjahna Salazar Serna" userId="ae11ef47-7b3f-4666-9f4d-d0225b013519" providerId="ADAL" clId="{B2B4444C-8C96-4FF3-8B66-EF28780BFBCE}" dt="2025-11-21T16:28:58.688" v="184" actId="1076"/>
          <ac:spMkLst>
            <pc:docMk/>
            <pc:sldMk cId="1371095429" sldId="393"/>
            <ac:spMk id="4" creationId="{C3DF8B6B-AEB8-43AF-9AA3-C95476894A4A}"/>
          </ac:spMkLst>
        </pc:spChg>
        <pc:spChg chg="add mod">
          <ac:chgData name="Kathleen Georjahna Salazar Serna" userId="ae11ef47-7b3f-4666-9f4d-d0225b013519" providerId="ADAL" clId="{B2B4444C-8C96-4FF3-8B66-EF28780BFBCE}" dt="2025-11-21T16:28:58.688" v="184" actId="1076"/>
          <ac:spMkLst>
            <pc:docMk/>
            <pc:sldMk cId="1371095429" sldId="393"/>
            <ac:spMk id="5" creationId="{9977AA65-CEDB-47CE-9D99-C422E2A84E69}"/>
          </ac:spMkLst>
        </pc:spChg>
        <pc:spChg chg="add mod">
          <ac:chgData name="Kathleen Georjahna Salazar Serna" userId="ae11ef47-7b3f-4666-9f4d-d0225b013519" providerId="ADAL" clId="{B2B4444C-8C96-4FF3-8B66-EF28780BFBCE}" dt="2025-11-21T16:29:10.294" v="187" actId="14100"/>
          <ac:spMkLst>
            <pc:docMk/>
            <pc:sldMk cId="1371095429" sldId="393"/>
            <ac:spMk id="6" creationId="{5F74B027-F121-4057-8EB2-61B0F24473F5}"/>
          </ac:spMkLst>
        </pc:spChg>
        <pc:spChg chg="add mod">
          <ac:chgData name="Kathleen Georjahna Salazar Serna" userId="ae11ef47-7b3f-4666-9f4d-d0225b013519" providerId="ADAL" clId="{B2B4444C-8C96-4FF3-8B66-EF28780BFBCE}" dt="2025-11-21T16:28:58.688" v="184" actId="1076"/>
          <ac:spMkLst>
            <pc:docMk/>
            <pc:sldMk cId="1371095429" sldId="393"/>
            <ac:spMk id="7" creationId="{796A63A8-C0B5-44E6-BB62-A9A3567DAC6D}"/>
          </ac:spMkLst>
        </pc:spChg>
        <pc:spChg chg="add mod">
          <ac:chgData name="Kathleen Georjahna Salazar Serna" userId="ae11ef47-7b3f-4666-9f4d-d0225b013519" providerId="ADAL" clId="{B2B4444C-8C96-4FF3-8B66-EF28780BFBCE}" dt="2025-11-21T16:28:58.688" v="184" actId="1076"/>
          <ac:spMkLst>
            <pc:docMk/>
            <pc:sldMk cId="1371095429" sldId="393"/>
            <ac:spMk id="8" creationId="{C1CF11BB-671F-4830-968B-056F4A53F1C2}"/>
          </ac:spMkLst>
        </pc:spChg>
        <pc:spChg chg="add mod">
          <ac:chgData name="Kathleen Georjahna Salazar Serna" userId="ae11ef47-7b3f-4666-9f4d-d0225b013519" providerId="ADAL" clId="{B2B4444C-8C96-4FF3-8B66-EF28780BFBCE}" dt="2025-11-21T16:29:04.415" v="185" actId="1076"/>
          <ac:spMkLst>
            <pc:docMk/>
            <pc:sldMk cId="1371095429" sldId="393"/>
            <ac:spMk id="9" creationId="{792B9A4E-50BD-4415-B967-32DBE7E3776A}"/>
          </ac:spMkLst>
        </pc:spChg>
        <pc:spChg chg="add mod">
          <ac:chgData name="Kathleen Georjahna Salazar Serna" userId="ae11ef47-7b3f-4666-9f4d-d0225b013519" providerId="ADAL" clId="{B2B4444C-8C96-4FF3-8B66-EF28780BFBCE}" dt="2025-11-21T16:29:18.389" v="190" actId="20577"/>
          <ac:spMkLst>
            <pc:docMk/>
            <pc:sldMk cId="1371095429" sldId="393"/>
            <ac:spMk id="10" creationId="{CC53A680-75C4-4F70-90F2-0CF5C7BA3834}"/>
          </ac:spMkLst>
        </pc:spChg>
      </pc:sldChg>
      <pc:sldChg chg="add">
        <pc:chgData name="Kathleen Georjahna Salazar Serna" userId="ae11ef47-7b3f-4666-9f4d-d0225b013519" providerId="ADAL" clId="{B2B4444C-8C96-4FF3-8B66-EF28780BFBCE}" dt="2025-11-21T18:33:07.291" v="198"/>
        <pc:sldMkLst>
          <pc:docMk/>
          <pc:sldMk cId="1595474852" sldId="394"/>
        </pc:sldMkLst>
      </pc:sldChg>
      <pc:sldChg chg="add">
        <pc:chgData name="Kathleen Georjahna Salazar Serna" userId="ae11ef47-7b3f-4666-9f4d-d0225b013519" providerId="ADAL" clId="{B2B4444C-8C96-4FF3-8B66-EF28780BFBCE}" dt="2025-11-21T18:38:03.603" v="199"/>
        <pc:sldMkLst>
          <pc:docMk/>
          <pc:sldMk cId="2006898535" sldId="3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72edefd4d_0_9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3572edefd4d_0_9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 acuerdo a la metodología de incorporación de enfoque de género en el cálculo de emisiones GEI, se parte del esquema de movilidad para identificar interacciones entre herramientas y aporte a las necesidades de información, para lo cual se propone la matriz de interacciones que se presenta en la sgte. diapositiva </a:t>
            </a:r>
            <a:endParaRPr/>
          </a:p>
        </p:txBody>
      </p:sp>
      <p:sp>
        <p:nvSpPr>
          <p:cNvPr id="300" name="Google Shape;300;g3572edefd4d_0_9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2093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149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993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908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468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Carros</a:t>
            </a:r>
            <a:r>
              <a:rPr lang="en-US" dirty="0"/>
              <a:t> y </a:t>
            </a:r>
            <a:r>
              <a:rPr lang="en-US" dirty="0" err="1"/>
              <a:t>motos</a:t>
            </a:r>
            <a:r>
              <a:rPr lang="en-US" dirty="0"/>
              <a:t> en </a:t>
            </a:r>
            <a:r>
              <a:rPr lang="en-US" dirty="0" err="1"/>
              <a:t>mujeres</a:t>
            </a:r>
            <a:r>
              <a:rPr lang="en-US" dirty="0"/>
              <a:t> </a:t>
            </a:r>
            <a:r>
              <a:rPr lang="en-US" dirty="0" err="1"/>
              <a:t>están</a:t>
            </a:r>
            <a:r>
              <a:rPr lang="en-US" dirty="0"/>
              <a:t> mas al </a:t>
            </a:r>
            <a:r>
              <a:rPr lang="en-US" dirty="0" err="1"/>
              <a:t>lado</a:t>
            </a:r>
            <a:r>
              <a:rPr lang="en-US" dirty="0"/>
              <a:t> de la dimension 3, </a:t>
            </a:r>
            <a:r>
              <a:rPr lang="en-US" dirty="0" err="1"/>
              <a:t>mientras</a:t>
            </a:r>
            <a:r>
              <a:rPr lang="en-US" dirty="0"/>
              <a:t> que el </a:t>
            </a:r>
            <a:r>
              <a:rPr lang="en-US" dirty="0" err="1"/>
              <a:t>tp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mas </a:t>
            </a:r>
            <a:r>
              <a:rPr lang="en-US" dirty="0" err="1"/>
              <a:t>concentrado</a:t>
            </a:r>
            <a:r>
              <a:rPr lang="en-US" dirty="0"/>
              <a:t> </a:t>
            </a:r>
            <a:r>
              <a:rPr lang="en-US" dirty="0" err="1"/>
              <a:t>hacia</a:t>
            </a:r>
            <a:r>
              <a:rPr lang="en-US" dirty="0"/>
              <a:t> la 1.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95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Se </a:t>
            </a:r>
            <a:r>
              <a:rPr lang="en-US" dirty="0" err="1"/>
              <a:t>observan</a:t>
            </a:r>
            <a:r>
              <a:rPr lang="en-US" dirty="0"/>
              <a:t> </a:t>
            </a:r>
            <a:r>
              <a:rPr lang="en-US" dirty="0" err="1"/>
              <a:t>diferencias</a:t>
            </a:r>
            <a:r>
              <a:rPr lang="en-US" dirty="0"/>
              <a:t> en las </a:t>
            </a:r>
            <a:r>
              <a:rPr lang="en-US" dirty="0" err="1"/>
              <a:t>percepciones</a:t>
            </a:r>
            <a:r>
              <a:rPr lang="en-US" dirty="0"/>
              <a:t> de hombres y </a:t>
            </a:r>
            <a:r>
              <a:rPr lang="en-US" dirty="0" err="1"/>
              <a:t>mujeres</a:t>
            </a:r>
            <a:r>
              <a:rPr lang="en-US" dirty="0"/>
              <a:t> y se </a:t>
            </a:r>
            <a:r>
              <a:rPr lang="en-US" dirty="0" err="1"/>
              <a:t>identifica</a:t>
            </a:r>
            <a:r>
              <a:rPr lang="en-US" dirty="0"/>
              <a:t> que los </a:t>
            </a:r>
            <a:r>
              <a:rPr lang="en-US" dirty="0" err="1"/>
              <a:t>modos</a:t>
            </a:r>
            <a:r>
              <a:rPr lang="en-US" dirty="0"/>
              <a:t> </a:t>
            </a:r>
            <a:r>
              <a:rPr lang="en-US" dirty="0" err="1"/>
              <a:t>provados</a:t>
            </a:r>
            <a:r>
              <a:rPr lang="en-US" dirty="0"/>
              <a:t>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fuertemente</a:t>
            </a:r>
            <a:r>
              <a:rPr lang="en-US" dirty="0"/>
              <a:t> </a:t>
            </a:r>
            <a:r>
              <a:rPr lang="en-US" dirty="0" err="1"/>
              <a:t>asociados</a:t>
            </a:r>
            <a:r>
              <a:rPr lang="en-US" dirty="0"/>
              <a:t> al </a:t>
            </a:r>
            <a:r>
              <a:rPr lang="en-US" dirty="0" err="1"/>
              <a:t>acceso</a:t>
            </a:r>
            <a:r>
              <a:rPr lang="en-US" dirty="0"/>
              <a:t> a los </a:t>
            </a:r>
            <a:r>
              <a:rPr lang="en-US" dirty="0" err="1"/>
              <a:t>modos</a:t>
            </a:r>
            <a:r>
              <a:rPr lang="en-US" dirty="0"/>
              <a:t> y a la </a:t>
            </a:r>
            <a:r>
              <a:rPr lang="en-US" dirty="0" err="1"/>
              <a:t>experiencia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72307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Carros</a:t>
            </a:r>
            <a:r>
              <a:rPr lang="en-US" dirty="0"/>
              <a:t> y </a:t>
            </a:r>
            <a:r>
              <a:rPr lang="en-US" dirty="0" err="1"/>
              <a:t>motos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a la dimension 1. </a:t>
            </a:r>
            <a:r>
              <a:rPr lang="en-US" dirty="0" err="1"/>
              <a:t>transporte</a:t>
            </a:r>
            <a:r>
              <a:rPr lang="en-US" dirty="0"/>
              <a:t> </a:t>
            </a:r>
            <a:r>
              <a:rPr lang="en-US" dirty="0" err="1"/>
              <a:t>público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a la 3.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33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Se </a:t>
            </a:r>
            <a:r>
              <a:rPr lang="en-US" dirty="0" err="1"/>
              <a:t>observan</a:t>
            </a:r>
            <a:r>
              <a:rPr lang="en-US" dirty="0"/>
              <a:t> </a:t>
            </a:r>
            <a:r>
              <a:rPr lang="en-US" dirty="0" err="1"/>
              <a:t>diferencias</a:t>
            </a:r>
            <a:r>
              <a:rPr lang="en-US" dirty="0"/>
              <a:t> en las </a:t>
            </a:r>
            <a:r>
              <a:rPr lang="en-US" dirty="0" err="1"/>
              <a:t>percepciones</a:t>
            </a:r>
            <a:r>
              <a:rPr lang="en-US" dirty="0"/>
              <a:t> de hombres y </a:t>
            </a:r>
            <a:r>
              <a:rPr lang="en-US" dirty="0" err="1"/>
              <a:t>mujeres</a:t>
            </a:r>
            <a:r>
              <a:rPr lang="en-US" dirty="0"/>
              <a:t> y se </a:t>
            </a:r>
            <a:r>
              <a:rPr lang="en-US" dirty="0" err="1"/>
              <a:t>identifica</a:t>
            </a:r>
            <a:r>
              <a:rPr lang="en-US" dirty="0"/>
              <a:t> que los </a:t>
            </a:r>
            <a:r>
              <a:rPr lang="en-US" dirty="0" err="1"/>
              <a:t>modos</a:t>
            </a:r>
            <a:r>
              <a:rPr lang="en-US" dirty="0"/>
              <a:t> </a:t>
            </a:r>
            <a:r>
              <a:rPr lang="en-US" dirty="0" err="1"/>
              <a:t>provados</a:t>
            </a:r>
            <a:r>
              <a:rPr lang="en-US" dirty="0"/>
              <a:t>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fuertemente</a:t>
            </a:r>
            <a:r>
              <a:rPr lang="en-US" dirty="0"/>
              <a:t> </a:t>
            </a:r>
            <a:r>
              <a:rPr lang="en-US" dirty="0" err="1"/>
              <a:t>asociados</a:t>
            </a:r>
            <a:r>
              <a:rPr lang="en-US" dirty="0"/>
              <a:t> al </a:t>
            </a:r>
            <a:r>
              <a:rPr lang="en-US" dirty="0" err="1"/>
              <a:t>acceso</a:t>
            </a:r>
            <a:r>
              <a:rPr lang="en-US" dirty="0"/>
              <a:t> a los </a:t>
            </a:r>
            <a:r>
              <a:rPr lang="en-US" dirty="0" err="1"/>
              <a:t>modos</a:t>
            </a:r>
            <a:r>
              <a:rPr lang="en-US" dirty="0"/>
              <a:t> y a la </a:t>
            </a:r>
            <a:r>
              <a:rPr lang="en-US" dirty="0" err="1"/>
              <a:t>experiencia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05423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638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5400" y="5512900"/>
            <a:ext cx="1015076" cy="10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788;p6">
            <a:extLst>
              <a:ext uri="{FF2B5EF4-FFF2-40B4-BE49-F238E27FC236}">
                <a16:creationId xmlns:a16="http://schemas.microsoft.com/office/drawing/2014/main" id="{743F1486-85B6-4520-97CF-B87F5767B38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6F448C8-6B5F-4B74-B7AF-A1886E64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38145C-42E1-40F3-BAD6-256817CFC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Fechas</a:t>
            </a:r>
            <a:r>
              <a:rPr lang="en-US" dirty="0"/>
              <a:t> para las </a:t>
            </a:r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/>
              <a:t>pendientes</a:t>
            </a:r>
            <a:r>
              <a:rPr lang="en-US" dirty="0"/>
              <a:t> del </a:t>
            </a:r>
            <a:r>
              <a:rPr lang="en-US" dirty="0" err="1"/>
              <a:t>convenio</a:t>
            </a:r>
            <a:endParaRPr lang="en-US" dirty="0"/>
          </a:p>
          <a:p>
            <a:r>
              <a:rPr lang="en-US" dirty="0" err="1"/>
              <a:t>Estructura</a:t>
            </a:r>
            <a:r>
              <a:rPr lang="en-US" dirty="0"/>
              <a:t> general de </a:t>
            </a:r>
            <a:r>
              <a:rPr lang="en-US" dirty="0" err="1"/>
              <a:t>análisis</a:t>
            </a:r>
            <a:endParaRPr lang="en-US" dirty="0"/>
          </a:p>
          <a:p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elección</a:t>
            </a:r>
            <a:r>
              <a:rPr lang="en-US" dirty="0"/>
              <a:t> </a:t>
            </a:r>
            <a:r>
              <a:rPr lang="en-US" dirty="0" err="1"/>
              <a:t>discreta</a:t>
            </a:r>
            <a:r>
              <a:rPr lang="en-US" dirty="0"/>
              <a:t> para el resto de </a:t>
            </a:r>
            <a:r>
              <a:rPr lang="en-US" dirty="0" err="1"/>
              <a:t>modos</a:t>
            </a:r>
            <a:endParaRPr lang="en-US" dirty="0"/>
          </a:p>
          <a:p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análisis</a:t>
            </a:r>
            <a:r>
              <a:rPr lang="en-US" dirty="0"/>
              <a:t> factorial Cali – Medellín </a:t>
            </a:r>
          </a:p>
          <a:p>
            <a:r>
              <a:rPr lang="en-US" dirty="0" err="1"/>
              <a:t>Propuesta</a:t>
            </a:r>
            <a:r>
              <a:rPr lang="en-US" dirty="0"/>
              <a:t> de </a:t>
            </a:r>
            <a:r>
              <a:rPr lang="en-US" dirty="0" err="1"/>
              <a:t>indicadores</a:t>
            </a:r>
            <a:endParaRPr lang="en-US" dirty="0"/>
          </a:p>
          <a:p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herramientas</a:t>
            </a:r>
            <a:r>
              <a:rPr lang="en-US" dirty="0"/>
              <a:t> en </a:t>
            </a:r>
            <a:r>
              <a:rPr lang="en-US" dirty="0" err="1"/>
              <a:t>construcción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350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BB764-E9AC-40F0-AE25-C75C2EFA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Cálculo</a:t>
            </a:r>
            <a:r>
              <a:rPr lang="en-US" dirty="0"/>
              <a:t> </a:t>
            </a:r>
            <a:r>
              <a:rPr lang="en-US" dirty="0" err="1"/>
              <a:t>emisiones</a:t>
            </a:r>
            <a:r>
              <a:rPr lang="en-US" dirty="0"/>
              <a:t> 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3DF8B6B-AEB8-43AF-9AA3-C95476894A4A}"/>
              </a:ext>
            </a:extLst>
          </p:cNvPr>
          <p:cNvSpPr/>
          <p:nvPr/>
        </p:nvSpPr>
        <p:spPr>
          <a:xfrm>
            <a:off x="476905" y="2041603"/>
            <a:ext cx="2335306" cy="13255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Nivel de </a:t>
            </a:r>
            <a:r>
              <a:rPr lang="en-US" sz="2800" dirty="0" err="1"/>
              <a:t>actividad</a:t>
            </a:r>
            <a:r>
              <a:rPr lang="en-US" sz="2800" dirty="0"/>
              <a:t> de </a:t>
            </a:r>
            <a:r>
              <a:rPr lang="en-US" sz="2800" dirty="0" err="1"/>
              <a:t>emisión</a:t>
            </a:r>
            <a:endParaRPr lang="en-US" sz="280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977AA65-CEDB-47CE-9D99-C422E2A84E69}"/>
              </a:ext>
            </a:extLst>
          </p:cNvPr>
          <p:cNvSpPr/>
          <p:nvPr/>
        </p:nvSpPr>
        <p:spPr>
          <a:xfrm>
            <a:off x="5394385" y="2041603"/>
            <a:ext cx="2335306" cy="13255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Factor de </a:t>
            </a:r>
            <a:r>
              <a:rPr lang="en-US" sz="2800" dirty="0" err="1"/>
              <a:t>emisión</a:t>
            </a:r>
            <a:endParaRPr lang="en-US" sz="28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F74B027-F121-4057-8EB2-61B0F24473F5}"/>
              </a:ext>
            </a:extLst>
          </p:cNvPr>
          <p:cNvSpPr txBox="1">
            <a:spLocks/>
          </p:cNvSpPr>
          <p:nvPr/>
        </p:nvSpPr>
        <p:spPr>
          <a:xfrm>
            <a:off x="3191608" y="1889128"/>
            <a:ext cx="196068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X</a:t>
            </a:r>
          </a:p>
        </p:txBody>
      </p:sp>
      <p:sp>
        <p:nvSpPr>
          <p:cNvPr id="7" name="Google Shape;315;g3572edefd4d_0_970">
            <a:extLst>
              <a:ext uri="{FF2B5EF4-FFF2-40B4-BE49-F238E27FC236}">
                <a16:creationId xmlns:a16="http://schemas.microsoft.com/office/drawing/2014/main" id="{796A63A8-C0B5-44E6-BB62-A9A3567DAC6D}"/>
              </a:ext>
            </a:extLst>
          </p:cNvPr>
          <p:cNvSpPr txBox="1"/>
          <p:nvPr/>
        </p:nvSpPr>
        <p:spPr>
          <a:xfrm>
            <a:off x="307008" y="4137747"/>
            <a:ext cx="26751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Km/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</a:t>
            </a:r>
            <a:endParaRPr sz="1800" dirty="0"/>
          </a:p>
        </p:txBody>
      </p:sp>
      <p:sp>
        <p:nvSpPr>
          <p:cNvPr id="8" name="Google Shape;315;g3572edefd4d_0_970">
            <a:extLst>
              <a:ext uri="{FF2B5EF4-FFF2-40B4-BE49-F238E27FC236}">
                <a16:creationId xmlns:a16="http://schemas.microsoft.com/office/drawing/2014/main" id="{C1CF11BB-671F-4830-968B-056F4A53F1C2}"/>
              </a:ext>
            </a:extLst>
          </p:cNvPr>
          <p:cNvSpPr txBox="1"/>
          <p:nvPr/>
        </p:nvSpPr>
        <p:spPr>
          <a:xfrm>
            <a:off x="5224490" y="4137746"/>
            <a:ext cx="26751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CO2 gr/Km</a:t>
            </a:r>
            <a:endParaRPr sz="18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92B9A4E-50BD-4415-B967-32DBE7E3776A}"/>
              </a:ext>
            </a:extLst>
          </p:cNvPr>
          <p:cNvSpPr/>
          <p:nvPr/>
        </p:nvSpPr>
        <p:spPr>
          <a:xfrm>
            <a:off x="9144212" y="2041603"/>
            <a:ext cx="2335306" cy="132556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Emisión</a:t>
            </a:r>
            <a:endParaRPr lang="en-US" sz="2800" dirty="0"/>
          </a:p>
          <a:p>
            <a:pPr algn="ctr"/>
            <a:r>
              <a:rPr lang="en-US" sz="2800" dirty="0"/>
              <a:t>CO2 ton/</a:t>
            </a:r>
            <a:r>
              <a:rPr lang="en-US" sz="2800" dirty="0" err="1"/>
              <a:t>año</a:t>
            </a:r>
            <a:endParaRPr lang="en-US" sz="280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C53A680-75C4-4F70-90F2-0CF5C7BA3834}"/>
              </a:ext>
            </a:extLst>
          </p:cNvPr>
          <p:cNvSpPr txBox="1">
            <a:spLocks/>
          </p:cNvSpPr>
          <p:nvPr/>
        </p:nvSpPr>
        <p:spPr>
          <a:xfrm>
            <a:off x="7456610" y="2041602"/>
            <a:ext cx="196068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371095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7B8DB555-BA6E-4F17-A1C2-5269EADD7B6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43725" y="1876429"/>
            <a:ext cx="4857750" cy="291063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0F3A94D-2BD9-43C6-90D7-F3E65A24A1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04523" y="1493045"/>
            <a:ext cx="4229702" cy="340280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89488FA-4AF7-4E98-A0DA-604534321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2748340"/>
            <a:ext cx="2833687" cy="116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4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31573-075F-4F6D-B088-F743FFEB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88DDBF-63B6-4BA8-B589-9338D4404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7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D11D5C-54E1-4F00-AE4E-3008DFF0FF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13087" y="1469072"/>
            <a:ext cx="5965825" cy="391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98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50;p5">
            <a:extLst>
              <a:ext uri="{FF2B5EF4-FFF2-40B4-BE49-F238E27FC236}">
                <a16:creationId xmlns:a16="http://schemas.microsoft.com/office/drawing/2014/main" id="{8F19C336-7E91-4FE6-A5A7-FB96A5D889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51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572edefd4d_0_970"/>
          <p:cNvSpPr txBox="1"/>
          <p:nvPr/>
        </p:nvSpPr>
        <p:spPr>
          <a:xfrm>
            <a:off x="146304" y="140976"/>
            <a:ext cx="118302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Esquema</a:t>
            </a:r>
            <a:r>
              <a:rPr lang="en-US" sz="4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Movilidad – </a:t>
            </a:r>
            <a:r>
              <a:rPr lang="en-US" sz="4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r>
              <a:rPr lang="en-US" sz="4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GEF CBIT</a:t>
            </a:r>
            <a:endParaRPr dirty="0"/>
          </a:p>
        </p:txBody>
      </p:sp>
      <p:sp>
        <p:nvSpPr>
          <p:cNvPr id="303" name="Google Shape;303;g3572edefd4d_0_970"/>
          <p:cNvSpPr txBox="1"/>
          <p:nvPr/>
        </p:nvSpPr>
        <p:spPr>
          <a:xfrm>
            <a:off x="8238388" y="5566467"/>
            <a:ext cx="415752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200"/>
            </a:pPr>
            <a:r>
              <a:rPr lang="es-CO" i="1" dirty="0"/>
              <a:t>(López &amp; Niño, 2024)</a:t>
            </a:r>
            <a:endParaRPr sz="1050" dirty="0"/>
          </a:p>
        </p:txBody>
      </p:sp>
      <p:grpSp>
        <p:nvGrpSpPr>
          <p:cNvPr id="304" name="Google Shape;304;g3572edefd4d_0_970"/>
          <p:cNvGrpSpPr/>
          <p:nvPr/>
        </p:nvGrpSpPr>
        <p:grpSpPr>
          <a:xfrm>
            <a:off x="2400623" y="1057035"/>
            <a:ext cx="6962744" cy="4682399"/>
            <a:chOff x="2676394" y="2106341"/>
            <a:chExt cx="6962744" cy="4682399"/>
          </a:xfrm>
        </p:grpSpPr>
        <p:sp>
          <p:nvSpPr>
            <p:cNvPr id="305" name="Google Shape;305;g3572edefd4d_0_970"/>
            <p:cNvSpPr/>
            <p:nvPr/>
          </p:nvSpPr>
          <p:spPr>
            <a:xfrm>
              <a:off x="3225479" y="2899912"/>
              <a:ext cx="1980000" cy="1980000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572edefd4d_0_970"/>
            <p:cNvSpPr/>
            <p:nvPr/>
          </p:nvSpPr>
          <p:spPr>
            <a:xfrm>
              <a:off x="7057641" y="2897814"/>
              <a:ext cx="1980000" cy="1980000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572edefd4d_0_970"/>
            <p:cNvSpPr/>
            <p:nvPr/>
          </p:nvSpPr>
          <p:spPr>
            <a:xfrm>
              <a:off x="5106000" y="4808740"/>
              <a:ext cx="1980000" cy="1980000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572edefd4d_0_970"/>
            <p:cNvSpPr/>
            <p:nvPr/>
          </p:nvSpPr>
          <p:spPr>
            <a:xfrm rot="10800000">
              <a:off x="4688226" y="2964781"/>
              <a:ext cx="2805592" cy="2532032"/>
            </a:xfrm>
            <a:custGeom>
              <a:avLst/>
              <a:gdLst/>
              <a:ahLst/>
              <a:cxnLst/>
              <a:rect l="l" t="t" r="r" b="b"/>
              <a:pathLst>
                <a:path w="2434353" h="2196991" extrusionOk="0">
                  <a:moveTo>
                    <a:pt x="1213366" y="2196991"/>
                  </a:moveTo>
                  <a:cubicBezTo>
                    <a:pt x="734949" y="2196991"/>
                    <a:pt x="335793" y="1857637"/>
                    <a:pt x="243479" y="1406511"/>
                  </a:cubicBezTo>
                  <a:lnTo>
                    <a:pt x="230549" y="1321787"/>
                  </a:lnTo>
                  <a:lnTo>
                    <a:pt x="0" y="1210382"/>
                  </a:lnTo>
                  <a:lnTo>
                    <a:pt x="233001" y="1097791"/>
                  </a:lnTo>
                  <a:lnTo>
                    <a:pt x="238828" y="1031745"/>
                  </a:lnTo>
                  <a:cubicBezTo>
                    <a:pt x="309951" y="633580"/>
                    <a:pt x="619111" y="317879"/>
                    <a:pt x="1013846" y="237105"/>
                  </a:cubicBezTo>
                  <a:lnTo>
                    <a:pt x="1105556" y="223108"/>
                  </a:lnTo>
                  <a:lnTo>
                    <a:pt x="1213366" y="0"/>
                  </a:lnTo>
                  <a:lnTo>
                    <a:pt x="1321176" y="223108"/>
                  </a:lnTo>
                  <a:lnTo>
                    <a:pt x="1412886" y="237105"/>
                  </a:lnTo>
                  <a:cubicBezTo>
                    <a:pt x="1807621" y="317879"/>
                    <a:pt x="2116781" y="633580"/>
                    <a:pt x="2187903" y="1031745"/>
                  </a:cubicBezTo>
                  <a:lnTo>
                    <a:pt x="2196393" y="1095395"/>
                  </a:lnTo>
                  <a:lnTo>
                    <a:pt x="2434353" y="1210382"/>
                  </a:lnTo>
                  <a:lnTo>
                    <a:pt x="2195576" y="1325763"/>
                  </a:lnTo>
                  <a:lnTo>
                    <a:pt x="2183253" y="1406511"/>
                  </a:lnTo>
                  <a:cubicBezTo>
                    <a:pt x="2090939" y="1857637"/>
                    <a:pt x="1691782" y="2196991"/>
                    <a:pt x="1213366" y="2196991"/>
                  </a:cubicBezTo>
                  <a:close/>
                </a:path>
              </a:pathLst>
            </a:custGeom>
            <a:solidFill>
              <a:srgbClr val="7A5071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572edefd4d_0_970"/>
            <p:cNvSpPr txBox="1"/>
            <p:nvPr/>
          </p:nvSpPr>
          <p:spPr>
            <a:xfrm>
              <a:off x="3496383" y="3412273"/>
              <a:ext cx="14382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¿Por </a:t>
              </a:r>
              <a:r>
                <a:rPr lang="en-US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qué</a:t>
              </a: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usa</a:t>
              </a: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un </a:t>
              </a:r>
              <a:r>
                <a:rPr lang="en-US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determinado</a:t>
              </a: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modo de </a:t>
              </a:r>
              <a:r>
                <a:rPr lang="en-US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transporte</a:t>
              </a: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1" dirty="0"/>
            </a:p>
          </p:txBody>
        </p:sp>
        <p:sp>
          <p:nvSpPr>
            <p:cNvPr id="310" name="Google Shape;310;g3572edefd4d_0_970"/>
            <p:cNvSpPr txBox="1"/>
            <p:nvPr/>
          </p:nvSpPr>
          <p:spPr>
            <a:xfrm>
              <a:off x="7328545" y="3626204"/>
              <a:ext cx="1438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¿Para </a:t>
              </a:r>
              <a:r>
                <a:rPr lang="en-US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qué</a:t>
              </a: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 </a:t>
              </a:r>
              <a:r>
                <a:rPr lang="en-US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mueve</a:t>
              </a: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1" dirty="0"/>
            </a:p>
          </p:txBody>
        </p:sp>
        <p:sp>
          <p:nvSpPr>
            <p:cNvPr id="311" name="Google Shape;311;g3572edefd4d_0_970"/>
            <p:cNvSpPr txBox="1"/>
            <p:nvPr/>
          </p:nvSpPr>
          <p:spPr>
            <a:xfrm>
              <a:off x="5373094" y="5682408"/>
              <a:ext cx="1438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</a:t>
              </a:r>
              <a:r>
                <a:rPr lang="en-US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Quién</a:t>
              </a: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 </a:t>
              </a:r>
              <a:r>
                <a:rPr lang="en-US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mueve</a:t>
              </a: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1" dirty="0"/>
            </a:p>
          </p:txBody>
        </p:sp>
        <p:sp>
          <p:nvSpPr>
            <p:cNvPr id="312" name="Google Shape;312;g3572edefd4d_0_970"/>
            <p:cNvSpPr txBox="1"/>
            <p:nvPr/>
          </p:nvSpPr>
          <p:spPr>
            <a:xfrm>
              <a:off x="4903391" y="3611044"/>
              <a:ext cx="2422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¿</a:t>
              </a:r>
              <a:r>
                <a:rPr lang="en-US" sz="1800" b="1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Cómo</a:t>
              </a: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se </a:t>
              </a:r>
              <a:r>
                <a:rPr lang="en-US" sz="1800" b="1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mueve</a:t>
              </a: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1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Modo de </a:t>
              </a:r>
              <a:r>
                <a:rPr lang="en-US" sz="1800" b="1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transporte</a:t>
              </a: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1800" b="1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acceso</a:t>
              </a: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1800" b="1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uso</a:t>
              </a: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y control</a:t>
              </a:r>
              <a:endParaRPr b="1" dirty="0"/>
            </a:p>
          </p:txBody>
        </p:sp>
        <p:sp>
          <p:nvSpPr>
            <p:cNvPr id="313" name="Google Shape;313;g3572edefd4d_0_970"/>
            <p:cNvSpPr txBox="1"/>
            <p:nvPr/>
          </p:nvSpPr>
          <p:spPr>
            <a:xfrm>
              <a:off x="4749779" y="2106341"/>
              <a:ext cx="267510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Intersección</a:t>
              </a:r>
              <a:r>
                <a:rPr lang="en-US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entre el INGEI e </a:t>
              </a:r>
              <a:r>
                <a:rPr lang="en-US" sz="16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información</a:t>
              </a:r>
              <a:r>
                <a:rPr lang="en-US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6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cualitativa</a:t>
              </a:r>
              <a:r>
                <a:rPr lang="en-US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(ENMA)</a:t>
              </a:r>
              <a:endParaRPr sz="1600" dirty="0"/>
            </a:p>
          </p:txBody>
        </p:sp>
        <p:sp>
          <p:nvSpPr>
            <p:cNvPr id="314" name="Google Shape;314;g3572edefd4d_0_970"/>
            <p:cNvSpPr txBox="1"/>
            <p:nvPr/>
          </p:nvSpPr>
          <p:spPr>
            <a:xfrm>
              <a:off x="6964038" y="5108777"/>
              <a:ext cx="267510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Subjetividad</a:t>
              </a:r>
              <a:r>
                <a:rPr lang="en-US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600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Preferencias</a:t>
              </a:r>
              <a:r>
                <a:rPr lang="en-US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16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perspectivas</a:t>
              </a:r>
              <a:r>
                <a:rPr lang="en-US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etc.</a:t>
              </a:r>
              <a:endParaRPr sz="1600" dirty="0"/>
            </a:p>
          </p:txBody>
        </p:sp>
        <p:sp>
          <p:nvSpPr>
            <p:cNvPr id="315" name="Google Shape;315;g3572edefd4d_0_970"/>
            <p:cNvSpPr txBox="1"/>
            <p:nvPr/>
          </p:nvSpPr>
          <p:spPr>
            <a:xfrm>
              <a:off x="2676394" y="5104218"/>
              <a:ext cx="2675100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Análisis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estructural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socioeconómico</a:t>
              </a:r>
              <a:endParaRPr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997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788;p6">
            <a:extLst>
              <a:ext uri="{FF2B5EF4-FFF2-40B4-BE49-F238E27FC236}">
                <a16:creationId xmlns:a16="http://schemas.microsoft.com/office/drawing/2014/main" id="{365C9015-D656-44BC-BD06-CB1D026C00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FD56D37-E8F6-4361-8CF0-3FD4A9B8B1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57"/>
          <a:stretch/>
        </p:blipFill>
        <p:spPr>
          <a:xfrm>
            <a:off x="2034791" y="222669"/>
            <a:ext cx="7523078" cy="576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30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adroTexto 48">
            <a:extLst>
              <a:ext uri="{FF2B5EF4-FFF2-40B4-BE49-F238E27FC236}">
                <a16:creationId xmlns:a16="http://schemas.microsoft.com/office/drawing/2014/main" id="{577886F9-1698-4C5A-9500-82C941DEA2A0}"/>
              </a:ext>
            </a:extLst>
          </p:cNvPr>
          <p:cNvSpPr txBox="1"/>
          <p:nvPr/>
        </p:nvSpPr>
        <p:spPr>
          <a:xfrm>
            <a:off x="287782" y="2842186"/>
            <a:ext cx="2126877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Definición</a:t>
            </a:r>
            <a:r>
              <a:rPr lang="en-US" dirty="0"/>
              <a:t> de </a:t>
            </a:r>
            <a:r>
              <a:rPr lang="en-US" dirty="0" err="1"/>
              <a:t>dimensiones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del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cualitativo</a:t>
            </a:r>
            <a:endParaRPr lang="en-US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5FA0180-7343-412F-A916-295D59CFD61E}"/>
              </a:ext>
            </a:extLst>
          </p:cNvPr>
          <p:cNvSpPr txBox="1"/>
          <p:nvPr/>
        </p:nvSpPr>
        <p:spPr>
          <a:xfrm>
            <a:off x="71648" y="4508115"/>
            <a:ext cx="1222422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Análisis</a:t>
            </a:r>
            <a:r>
              <a:rPr lang="en-US" dirty="0"/>
              <a:t> dimensional x modo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BFF2EEBD-38DB-430B-9D04-7068D0B07FF8}"/>
              </a:ext>
            </a:extLst>
          </p:cNvPr>
          <p:cNvSpPr/>
          <p:nvPr/>
        </p:nvSpPr>
        <p:spPr>
          <a:xfrm>
            <a:off x="818068" y="5039685"/>
            <a:ext cx="9926131" cy="826919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EA0F9AA-FC0F-4AAC-BB7B-413789FA960B}"/>
              </a:ext>
            </a:extLst>
          </p:cNvPr>
          <p:cNvSpPr/>
          <p:nvPr/>
        </p:nvSpPr>
        <p:spPr>
          <a:xfrm>
            <a:off x="2238574" y="3227612"/>
            <a:ext cx="7427344" cy="1290050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4D44A18-76DE-4F7D-B4D2-174539058287}"/>
              </a:ext>
            </a:extLst>
          </p:cNvPr>
          <p:cNvSpPr/>
          <p:nvPr/>
        </p:nvSpPr>
        <p:spPr>
          <a:xfrm>
            <a:off x="4739958" y="2230928"/>
            <a:ext cx="2100259" cy="30950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Acceso</a:t>
            </a:r>
            <a:r>
              <a:rPr lang="en-US" dirty="0">
                <a:solidFill>
                  <a:sysClr val="windowText" lastClr="000000"/>
                </a:solidFill>
              </a:rPr>
              <a:t> a </a:t>
            </a:r>
            <a:r>
              <a:rPr lang="en-US" dirty="0" err="1">
                <a:solidFill>
                  <a:sysClr val="windowText" lastClr="000000"/>
                </a:solidFill>
              </a:rPr>
              <a:t>recursos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8DE89F7-E7EC-4DE7-9C5E-73DB18054E44}"/>
              </a:ext>
            </a:extLst>
          </p:cNvPr>
          <p:cNvSpPr/>
          <p:nvPr/>
        </p:nvSpPr>
        <p:spPr>
          <a:xfrm>
            <a:off x="2443889" y="3373218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Comodidad</a:t>
            </a:r>
            <a:r>
              <a:rPr lang="en-US" dirty="0"/>
              <a:t>/</a:t>
            </a:r>
          </a:p>
          <a:p>
            <a:pPr algn="ctr"/>
            <a:r>
              <a:rPr lang="en-US" dirty="0" err="1"/>
              <a:t>conveniencia</a:t>
            </a:r>
            <a:endParaRPr lang="en-US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793DD21-4AA4-458E-9076-3C28DD198879}"/>
              </a:ext>
            </a:extLst>
          </p:cNvPr>
          <p:cNvSpPr/>
          <p:nvPr/>
        </p:nvSpPr>
        <p:spPr>
          <a:xfrm>
            <a:off x="3874385" y="3359203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Seguridad</a:t>
            </a:r>
            <a:endParaRPr lang="en-US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72DB932-415C-4269-8475-BB06C3AB0BDF}"/>
              </a:ext>
            </a:extLst>
          </p:cNvPr>
          <p:cNvSpPr/>
          <p:nvPr/>
        </p:nvSpPr>
        <p:spPr>
          <a:xfrm>
            <a:off x="8181503" y="3316845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Eficiencia</a:t>
            </a:r>
            <a:endParaRPr lang="en-US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9329E43-886B-42A4-8DEB-643A74A64391}"/>
              </a:ext>
            </a:extLst>
          </p:cNvPr>
          <p:cNvSpPr/>
          <p:nvPr/>
        </p:nvSpPr>
        <p:spPr>
          <a:xfrm>
            <a:off x="3836767" y="3938209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Economía</a:t>
            </a:r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C919B95-28C7-4BAD-A9E4-65F014691177}"/>
              </a:ext>
            </a:extLst>
          </p:cNvPr>
          <p:cNvSpPr/>
          <p:nvPr/>
        </p:nvSpPr>
        <p:spPr>
          <a:xfrm>
            <a:off x="5302241" y="3938209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Cuidado</a:t>
            </a:r>
            <a:endParaRPr lang="en-U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21D18BD-C49B-4165-B0EE-23B95C735A10}"/>
              </a:ext>
            </a:extLst>
          </p:cNvPr>
          <p:cNvSpPr/>
          <p:nvPr/>
        </p:nvSpPr>
        <p:spPr>
          <a:xfrm>
            <a:off x="6751007" y="3308916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Autonomía</a:t>
            </a:r>
            <a:endParaRPr lang="en-US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8AE8548-C3A4-485D-8A39-5F3BB39E3FEB}"/>
              </a:ext>
            </a:extLst>
          </p:cNvPr>
          <p:cNvSpPr/>
          <p:nvPr/>
        </p:nvSpPr>
        <p:spPr>
          <a:xfrm>
            <a:off x="6711923" y="3938209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Aspiración/ inclusión</a:t>
            </a:r>
            <a:endParaRPr lang="en-US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685B314-5260-4C2A-ADFD-473D132C79B5}"/>
              </a:ext>
            </a:extLst>
          </p:cNvPr>
          <p:cNvSpPr/>
          <p:nvPr/>
        </p:nvSpPr>
        <p:spPr>
          <a:xfrm>
            <a:off x="906872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Auto</a:t>
            </a:r>
            <a:endParaRPr lang="en-US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E3B02F4-48D6-4947-B469-AF36FF766B58}"/>
              </a:ext>
            </a:extLst>
          </p:cNvPr>
          <p:cNvSpPr/>
          <p:nvPr/>
        </p:nvSpPr>
        <p:spPr>
          <a:xfrm>
            <a:off x="2655159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Moto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8A7DB15-F41C-402C-BD57-C1CCAF358D09}"/>
              </a:ext>
            </a:extLst>
          </p:cNvPr>
          <p:cNvSpPr/>
          <p:nvPr/>
        </p:nvSpPr>
        <p:spPr>
          <a:xfrm>
            <a:off x="4354920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T. </a:t>
            </a:r>
            <a:r>
              <a:rPr lang="en-US" dirty="0" err="1"/>
              <a:t>Público</a:t>
            </a:r>
            <a:r>
              <a:rPr lang="en-US" dirty="0"/>
              <a:t> </a:t>
            </a:r>
            <a:r>
              <a:rPr lang="en-US" dirty="0" err="1"/>
              <a:t>Masivo</a:t>
            </a:r>
            <a:endParaRPr lang="en-US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6DA6FDF-54DD-4D61-924C-126A41ADB2BF}"/>
              </a:ext>
            </a:extLst>
          </p:cNvPr>
          <p:cNvSpPr/>
          <p:nvPr/>
        </p:nvSpPr>
        <p:spPr>
          <a:xfrm>
            <a:off x="6054681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T. </a:t>
            </a:r>
            <a:r>
              <a:rPr lang="en-US" dirty="0" err="1"/>
              <a:t>Público</a:t>
            </a:r>
            <a:r>
              <a:rPr lang="en-US" dirty="0"/>
              <a:t> Individual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A2C2382-7EDF-469C-84F6-ACFCD607ED18}"/>
              </a:ext>
            </a:extLst>
          </p:cNvPr>
          <p:cNvSpPr/>
          <p:nvPr/>
        </p:nvSpPr>
        <p:spPr>
          <a:xfrm>
            <a:off x="7426494" y="5184122"/>
            <a:ext cx="1553261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Movilidad </a:t>
            </a:r>
            <a:r>
              <a:rPr lang="en-US" dirty="0" err="1"/>
              <a:t>activa</a:t>
            </a:r>
            <a:r>
              <a:rPr lang="en-US" dirty="0"/>
              <a:t> (</a:t>
            </a:r>
            <a:r>
              <a:rPr lang="en-US" dirty="0" err="1"/>
              <a:t>caminar</a:t>
            </a:r>
            <a:r>
              <a:rPr lang="en-US" dirty="0"/>
              <a:t> – </a:t>
            </a:r>
            <a:r>
              <a:rPr lang="en-US" dirty="0" err="1"/>
              <a:t>bici</a:t>
            </a:r>
            <a:r>
              <a:rPr lang="en-US" dirty="0"/>
              <a:t>)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3F2DDA5-8ED6-4BA8-8692-75847E338124}"/>
              </a:ext>
            </a:extLst>
          </p:cNvPr>
          <p:cNvSpPr/>
          <p:nvPr/>
        </p:nvSpPr>
        <p:spPr>
          <a:xfrm>
            <a:off x="9010879" y="5173427"/>
            <a:ext cx="1733320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Micromovilidad</a:t>
            </a:r>
            <a:r>
              <a:rPr lang="en-US" dirty="0"/>
              <a:t> (</a:t>
            </a:r>
            <a:r>
              <a:rPr lang="en-US" dirty="0" err="1"/>
              <a:t>ciclomotores</a:t>
            </a:r>
            <a:r>
              <a:rPr lang="en-US" dirty="0"/>
              <a:t>, </a:t>
            </a:r>
            <a:r>
              <a:rPr lang="en-US" dirty="0" err="1"/>
              <a:t>patinetas</a:t>
            </a:r>
            <a:r>
              <a:rPr lang="en-US" dirty="0"/>
              <a:t>, </a:t>
            </a:r>
            <a:r>
              <a:rPr lang="en-US" dirty="0" err="1"/>
              <a:t>bici</a:t>
            </a:r>
            <a:r>
              <a:rPr lang="en-US" dirty="0"/>
              <a:t> </a:t>
            </a:r>
            <a:r>
              <a:rPr lang="en-US" dirty="0" err="1"/>
              <a:t>elc</a:t>
            </a:r>
            <a:r>
              <a:rPr lang="en-US" dirty="0"/>
              <a:t>.)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82792D2-0FAE-4658-8A33-B1ECD34EF7CD}"/>
              </a:ext>
            </a:extLst>
          </p:cNvPr>
          <p:cNvSpPr txBox="1"/>
          <p:nvPr/>
        </p:nvSpPr>
        <p:spPr>
          <a:xfrm>
            <a:off x="2855364" y="3210360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Dimensiones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786224BC-964F-4A3C-B44A-D6C092884A7E}"/>
              </a:ext>
            </a:extLst>
          </p:cNvPr>
          <p:cNvSpPr/>
          <p:nvPr/>
        </p:nvSpPr>
        <p:spPr>
          <a:xfrm>
            <a:off x="5594036" y="1841476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F1AF551-95F0-4F4A-AF4D-5572261E7E4E}"/>
              </a:ext>
            </a:extLst>
          </p:cNvPr>
          <p:cNvSpPr txBox="1"/>
          <p:nvPr/>
        </p:nvSpPr>
        <p:spPr>
          <a:xfrm>
            <a:off x="2818340" y="1543973"/>
            <a:ext cx="602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Determinan</a:t>
            </a:r>
            <a:r>
              <a:rPr lang="en-US" dirty="0"/>
              <a:t> 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4BC95A0-4ADD-4EC6-9714-3DA14774DB55}"/>
              </a:ext>
            </a:extLst>
          </p:cNvPr>
          <p:cNvSpPr txBox="1"/>
          <p:nvPr/>
        </p:nvSpPr>
        <p:spPr>
          <a:xfrm>
            <a:off x="2867059" y="2891406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Afectan</a:t>
            </a:r>
            <a:r>
              <a:rPr lang="en-US" dirty="0"/>
              <a:t> peso de las </a:t>
            </a:r>
            <a:r>
              <a:rPr lang="en-US" dirty="0" err="1"/>
              <a:t>dimensiones</a:t>
            </a:r>
            <a:r>
              <a:rPr lang="en-US" dirty="0"/>
              <a:t> de </a:t>
            </a:r>
            <a:r>
              <a:rPr lang="en-US" dirty="0" err="1"/>
              <a:t>elección</a:t>
            </a:r>
            <a:endParaRPr lang="en-US" dirty="0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888C2C43-41CD-4D4D-8104-539EEF3EFC03}"/>
              </a:ext>
            </a:extLst>
          </p:cNvPr>
          <p:cNvSpPr/>
          <p:nvPr/>
        </p:nvSpPr>
        <p:spPr>
          <a:xfrm>
            <a:off x="5079620" y="6368679"/>
            <a:ext cx="1596113" cy="45893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Emisiones</a:t>
            </a:r>
            <a:endParaRPr lang="en-US" b="1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3F9109A-2965-4EDD-B945-14991F119044}"/>
              </a:ext>
            </a:extLst>
          </p:cNvPr>
          <p:cNvSpPr txBox="1"/>
          <p:nvPr/>
        </p:nvSpPr>
        <p:spPr>
          <a:xfrm>
            <a:off x="2855363" y="4786891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Determinan</a:t>
            </a:r>
            <a:r>
              <a:rPr lang="en-US" dirty="0"/>
              <a:t> </a:t>
            </a:r>
            <a:r>
              <a:rPr lang="en-US" dirty="0" err="1"/>
              <a:t>elección</a:t>
            </a:r>
            <a:r>
              <a:rPr lang="en-US" dirty="0"/>
              <a:t> modal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5FB8533-BA44-4284-836B-715D62CC4C83}"/>
              </a:ext>
            </a:extLst>
          </p:cNvPr>
          <p:cNvSpPr txBox="1"/>
          <p:nvPr/>
        </p:nvSpPr>
        <p:spPr>
          <a:xfrm>
            <a:off x="7197861" y="5902078"/>
            <a:ext cx="32893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del </a:t>
            </a:r>
            <a:r>
              <a:rPr lang="en-US" dirty="0" err="1"/>
              <a:t>viaje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Distancia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Frecuencia</a:t>
            </a:r>
            <a:r>
              <a:rPr lang="en-US" dirty="0"/>
              <a:t> de </a:t>
            </a:r>
            <a:r>
              <a:rPr lang="en-US" dirty="0" err="1"/>
              <a:t>viajes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Ocupación</a:t>
            </a:r>
            <a:endParaRPr lang="en-U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EBA40D2-DEC9-4227-BD31-F0AF672F93E9}"/>
              </a:ext>
            </a:extLst>
          </p:cNvPr>
          <p:cNvSpPr txBox="1"/>
          <p:nvPr/>
        </p:nvSpPr>
        <p:spPr>
          <a:xfrm>
            <a:off x="2306142" y="5854510"/>
            <a:ext cx="3289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del modo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Fuente </a:t>
            </a:r>
            <a:r>
              <a:rPr lang="en-US" dirty="0" err="1"/>
              <a:t>energía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Cilindraje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Antigüedad</a:t>
            </a:r>
            <a:endParaRPr lang="en-US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235BCF7-670E-4EBB-92BC-4C29814A9C49}"/>
              </a:ext>
            </a:extLst>
          </p:cNvPr>
          <p:cNvSpPr txBox="1"/>
          <p:nvPr/>
        </p:nvSpPr>
        <p:spPr>
          <a:xfrm>
            <a:off x="9421214" y="1569484"/>
            <a:ext cx="2522507" cy="54852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Sistematización</a:t>
            </a:r>
            <a:r>
              <a:rPr lang="en-US" dirty="0"/>
              <a:t> </a:t>
            </a:r>
            <a:r>
              <a:rPr lang="en-US" dirty="0" err="1"/>
              <a:t>cuantitativa</a:t>
            </a:r>
            <a:r>
              <a:rPr lang="en-US" dirty="0"/>
              <a:t>:</a:t>
            </a:r>
          </a:p>
          <a:p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descriptivo</a:t>
            </a:r>
            <a:endParaRPr lang="en-US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AE4E4BB-32F9-434D-92AB-CF3FAFEAF921}"/>
              </a:ext>
            </a:extLst>
          </p:cNvPr>
          <p:cNvSpPr txBox="1"/>
          <p:nvPr/>
        </p:nvSpPr>
        <p:spPr>
          <a:xfrm>
            <a:off x="9530250" y="2806267"/>
            <a:ext cx="2448400" cy="1903690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En el </a:t>
            </a:r>
            <a:r>
              <a:rPr lang="en-US" dirty="0" err="1"/>
              <a:t>análisis</a:t>
            </a:r>
            <a:r>
              <a:rPr lang="en-US" dirty="0"/>
              <a:t> y </a:t>
            </a:r>
            <a:r>
              <a:rPr lang="en-US" dirty="0" err="1"/>
              <a:t>triangulación</a:t>
            </a:r>
            <a:r>
              <a:rPr lang="en-US" dirty="0"/>
              <a:t>, se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correspondencia</a:t>
            </a:r>
            <a:r>
              <a:rPr lang="en-US" dirty="0"/>
              <a:t> con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cuantitativo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elección</a:t>
            </a:r>
            <a:r>
              <a:rPr lang="en-US" dirty="0"/>
              <a:t> </a:t>
            </a:r>
            <a:r>
              <a:rPr lang="en-US" dirty="0" err="1"/>
              <a:t>discreta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Análisis</a:t>
            </a:r>
            <a:r>
              <a:rPr lang="en-US" dirty="0"/>
              <a:t> factorial</a:t>
            </a:r>
          </a:p>
          <a:p>
            <a:endParaRPr lang="en-US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A163EE2-9C7C-4469-97CF-C89C5FDB3E86}"/>
              </a:ext>
            </a:extLst>
          </p:cNvPr>
          <p:cNvSpPr txBox="1"/>
          <p:nvPr/>
        </p:nvSpPr>
        <p:spPr>
          <a:xfrm>
            <a:off x="87457" y="1527879"/>
            <a:ext cx="2100260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Sistematización</a:t>
            </a:r>
            <a:r>
              <a:rPr lang="en-US" dirty="0"/>
              <a:t> </a:t>
            </a:r>
            <a:r>
              <a:rPr lang="en-US" dirty="0" err="1"/>
              <a:t>cualitativa</a:t>
            </a:r>
            <a:r>
              <a:rPr lang="en-US" dirty="0"/>
              <a:t> de </a:t>
            </a:r>
            <a:r>
              <a:rPr lang="en-US" dirty="0" err="1"/>
              <a:t>grupos</a:t>
            </a:r>
            <a:r>
              <a:rPr lang="en-US" dirty="0"/>
              <a:t>, </a:t>
            </a:r>
            <a:r>
              <a:rPr lang="en-US" dirty="0" err="1"/>
              <a:t>recorridos</a:t>
            </a:r>
            <a:r>
              <a:rPr lang="en-US" dirty="0"/>
              <a:t> y </a:t>
            </a:r>
            <a:r>
              <a:rPr lang="en-US" dirty="0" err="1"/>
              <a:t>entrevistas</a:t>
            </a:r>
            <a:endParaRPr lang="en-U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DD97E33-9EC4-43BA-8C14-0E44D9E66F70}"/>
              </a:ext>
            </a:extLst>
          </p:cNvPr>
          <p:cNvSpPr txBox="1"/>
          <p:nvPr/>
        </p:nvSpPr>
        <p:spPr>
          <a:xfrm>
            <a:off x="9684933" y="6077149"/>
            <a:ext cx="2274018" cy="54852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emisiones</a:t>
            </a:r>
            <a:r>
              <a:rPr lang="en-US" dirty="0"/>
              <a:t> </a:t>
            </a:r>
            <a:r>
              <a:rPr lang="en-US" dirty="0" err="1"/>
              <a:t>según</a:t>
            </a:r>
            <a:r>
              <a:rPr lang="en-US" dirty="0"/>
              <a:t> </a:t>
            </a:r>
            <a:r>
              <a:rPr lang="en-US" dirty="0" err="1"/>
              <a:t>perfil</a:t>
            </a:r>
            <a:r>
              <a:rPr lang="en-US" dirty="0"/>
              <a:t> de la ciudad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BC22E80-11AB-465F-A505-78F6526E8BFB}"/>
              </a:ext>
            </a:extLst>
          </p:cNvPr>
          <p:cNvSpPr txBox="1"/>
          <p:nvPr/>
        </p:nvSpPr>
        <p:spPr>
          <a:xfrm>
            <a:off x="10682467" y="4796930"/>
            <a:ext cx="1222422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Indicadores</a:t>
            </a:r>
            <a:r>
              <a:rPr lang="en-US" dirty="0"/>
              <a:t> de Movilidad 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51145A0-6F02-4516-8A17-67DB8285DDC5}"/>
              </a:ext>
            </a:extLst>
          </p:cNvPr>
          <p:cNvGrpSpPr/>
          <p:nvPr/>
        </p:nvGrpSpPr>
        <p:grpSpPr>
          <a:xfrm>
            <a:off x="1280592" y="36715"/>
            <a:ext cx="9014601" cy="1542268"/>
            <a:chOff x="1101479" y="-385145"/>
            <a:chExt cx="9014601" cy="1542268"/>
          </a:xfrm>
        </p:grpSpPr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70E4F480-B262-4531-92DA-1A307718F097}"/>
                </a:ext>
              </a:extLst>
            </p:cNvPr>
            <p:cNvSpPr/>
            <p:nvPr/>
          </p:nvSpPr>
          <p:spPr>
            <a:xfrm>
              <a:off x="1101479" y="-329576"/>
              <a:ext cx="9014601" cy="1486699"/>
            </a:xfrm>
            <a:prstGeom prst="roundRect">
              <a:avLst/>
            </a:prstGeom>
            <a:solidFill>
              <a:schemeClr val="tx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5AFFF837-1C0C-4140-842E-99A26397A03B}"/>
                </a:ext>
              </a:extLst>
            </p:cNvPr>
            <p:cNvSpPr/>
            <p:nvPr/>
          </p:nvSpPr>
          <p:spPr>
            <a:xfrm>
              <a:off x="8407791" y="522216"/>
              <a:ext cx="1620000" cy="50400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Ubicación en la ciudad</a:t>
              </a:r>
              <a:endParaRPr lang="en-US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7418449A-75E7-4F7D-993E-C7397BBFACC7}"/>
                </a:ext>
              </a:extLst>
            </p:cNvPr>
            <p:cNvSpPr/>
            <p:nvPr/>
          </p:nvSpPr>
          <p:spPr>
            <a:xfrm>
              <a:off x="1229445" y="-38155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Etnia</a:t>
              </a:r>
              <a:endParaRPr lang="en-US" dirty="0"/>
            </a:p>
          </p:txBody>
        </p: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8CAFAD7F-CFAF-45E7-B771-858B8B0A0C65}"/>
                </a:ext>
              </a:extLst>
            </p:cNvPr>
            <p:cNvSpPr/>
            <p:nvPr/>
          </p:nvSpPr>
          <p:spPr>
            <a:xfrm>
              <a:off x="1227937" y="547685"/>
              <a:ext cx="1620000" cy="504000"/>
            </a:xfrm>
            <a:prstGeom prst="roundRect">
              <a:avLst/>
            </a:prstGeom>
            <a:solidFill>
              <a:srgbClr val="42BAD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Género</a:t>
              </a:r>
              <a:endParaRPr lang="en-US" dirty="0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DBC13777-07A1-487C-8FE1-FBF03AA7A53C}"/>
                </a:ext>
              </a:extLst>
            </p:cNvPr>
            <p:cNvSpPr/>
            <p:nvPr/>
          </p:nvSpPr>
          <p:spPr>
            <a:xfrm>
              <a:off x="4779796" y="-64848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Edad</a:t>
              </a:r>
              <a:endParaRPr lang="en-US" dirty="0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E7224076-DF43-4E51-943F-41AEB907447E}"/>
                </a:ext>
              </a:extLst>
            </p:cNvPr>
            <p:cNvSpPr/>
            <p:nvPr/>
          </p:nvSpPr>
          <p:spPr>
            <a:xfrm>
              <a:off x="2977411" y="-52071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Ocupación</a:t>
              </a:r>
              <a:endParaRPr lang="en-US" dirty="0"/>
            </a:p>
          </p:txBody>
        </p:sp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E4FF9FB1-8031-4FDD-B35A-FF40F5C1B3E9}"/>
                </a:ext>
              </a:extLst>
            </p:cNvPr>
            <p:cNvSpPr/>
            <p:nvPr/>
          </p:nvSpPr>
          <p:spPr>
            <a:xfrm>
              <a:off x="6613379" y="-83722"/>
              <a:ext cx="1620000" cy="50400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Experiencias</a:t>
              </a:r>
              <a:r>
                <a:rPr lang="en-US" dirty="0"/>
                <a:t> de </a:t>
              </a:r>
              <a:r>
                <a:rPr lang="en-US" dirty="0" err="1"/>
                <a:t>inseguridad</a:t>
              </a:r>
              <a:endParaRPr lang="en-US" dirty="0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237A2D38-D7B8-4337-8437-07A36F1FA551}"/>
                </a:ext>
              </a:extLst>
            </p:cNvPr>
            <p:cNvSpPr txBox="1"/>
            <p:nvPr/>
          </p:nvSpPr>
          <p:spPr>
            <a:xfrm>
              <a:off x="1346099" y="-385145"/>
              <a:ext cx="8210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Características</a:t>
              </a:r>
              <a:r>
                <a:rPr lang="en-US" dirty="0"/>
                <a:t> del </a:t>
              </a:r>
              <a:r>
                <a:rPr lang="en-US" dirty="0" err="1"/>
                <a:t>individuo</a:t>
              </a:r>
              <a:endParaRPr lang="en-US" dirty="0"/>
            </a:p>
          </p:txBody>
        </p:sp>
        <p:sp>
          <p:nvSpPr>
            <p:cNvPr id="55" name="Rectángulo: esquinas redondeadas 54">
              <a:extLst>
                <a:ext uri="{FF2B5EF4-FFF2-40B4-BE49-F238E27FC236}">
                  <a16:creationId xmlns:a16="http://schemas.microsoft.com/office/drawing/2014/main" id="{604938D8-2F61-4D5A-BB54-DCB9A1EB255A}"/>
                </a:ext>
              </a:extLst>
            </p:cNvPr>
            <p:cNvSpPr/>
            <p:nvPr/>
          </p:nvSpPr>
          <p:spPr>
            <a:xfrm>
              <a:off x="2970887" y="528375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Estrato</a:t>
              </a:r>
              <a:endParaRPr lang="en-US" dirty="0"/>
            </a:p>
          </p:txBody>
        </p:sp>
        <p:sp>
          <p:nvSpPr>
            <p:cNvPr id="56" name="Rectángulo: esquinas redondeadas 55">
              <a:extLst>
                <a:ext uri="{FF2B5EF4-FFF2-40B4-BE49-F238E27FC236}">
                  <a16:creationId xmlns:a16="http://schemas.microsoft.com/office/drawing/2014/main" id="{5914BA1C-010B-4ADB-9802-8CB9FECAA0A3}"/>
                </a:ext>
              </a:extLst>
            </p:cNvPr>
            <p:cNvSpPr/>
            <p:nvPr/>
          </p:nvSpPr>
          <p:spPr>
            <a:xfrm>
              <a:off x="6597190" y="543199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Nivel educativo</a:t>
              </a:r>
              <a:endParaRPr lang="en-US" dirty="0"/>
            </a:p>
          </p:txBody>
        </p:sp>
        <p:sp>
          <p:nvSpPr>
            <p:cNvPr id="57" name="Rectángulo: esquinas redondeadas 56">
              <a:extLst>
                <a:ext uri="{FF2B5EF4-FFF2-40B4-BE49-F238E27FC236}">
                  <a16:creationId xmlns:a16="http://schemas.microsoft.com/office/drawing/2014/main" id="{4BA3BE7B-FA4A-4DAE-A858-1E336D86DFBD}"/>
                </a:ext>
              </a:extLst>
            </p:cNvPr>
            <p:cNvSpPr/>
            <p:nvPr/>
          </p:nvSpPr>
          <p:spPr>
            <a:xfrm>
              <a:off x="8399445" y="-101146"/>
              <a:ext cx="1620000" cy="50400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Percepciones</a:t>
              </a:r>
              <a:endParaRPr lang="en-US" dirty="0"/>
            </a:p>
          </p:txBody>
        </p:sp>
        <p:sp>
          <p:nvSpPr>
            <p:cNvPr id="58" name="Rectángulo: esquinas redondeadas 57">
              <a:extLst>
                <a:ext uri="{FF2B5EF4-FFF2-40B4-BE49-F238E27FC236}">
                  <a16:creationId xmlns:a16="http://schemas.microsoft.com/office/drawing/2014/main" id="{83188AB8-9C7C-4DC1-ADAF-73170B58FF1C}"/>
                </a:ext>
              </a:extLst>
            </p:cNvPr>
            <p:cNvSpPr/>
            <p:nvPr/>
          </p:nvSpPr>
          <p:spPr>
            <a:xfrm>
              <a:off x="4776508" y="543199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Discapacidades</a:t>
              </a:r>
              <a:endParaRPr lang="en-US" dirty="0"/>
            </a:p>
          </p:txBody>
        </p:sp>
      </p:grpSp>
      <p:sp>
        <p:nvSpPr>
          <p:cNvPr id="59" name="Flecha: hacia abajo 58">
            <a:extLst>
              <a:ext uri="{FF2B5EF4-FFF2-40B4-BE49-F238E27FC236}">
                <a16:creationId xmlns:a16="http://schemas.microsoft.com/office/drawing/2014/main" id="{1C2CA5BC-6052-4752-9C20-0C53522E9241}"/>
              </a:ext>
            </a:extLst>
          </p:cNvPr>
          <p:cNvSpPr/>
          <p:nvPr/>
        </p:nvSpPr>
        <p:spPr>
          <a:xfrm>
            <a:off x="5616793" y="2550954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echa: hacia abajo 59">
            <a:extLst>
              <a:ext uri="{FF2B5EF4-FFF2-40B4-BE49-F238E27FC236}">
                <a16:creationId xmlns:a16="http://schemas.microsoft.com/office/drawing/2014/main" id="{849F669C-AC3D-4FB0-ACF1-F34466294064}"/>
              </a:ext>
            </a:extLst>
          </p:cNvPr>
          <p:cNvSpPr/>
          <p:nvPr/>
        </p:nvSpPr>
        <p:spPr>
          <a:xfrm>
            <a:off x="5616793" y="4483140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echa: hacia abajo 60">
            <a:extLst>
              <a:ext uri="{FF2B5EF4-FFF2-40B4-BE49-F238E27FC236}">
                <a16:creationId xmlns:a16="http://schemas.microsoft.com/office/drawing/2014/main" id="{F694E9E1-5E3B-4FB7-8F15-D56CAE6A1715}"/>
              </a:ext>
            </a:extLst>
          </p:cNvPr>
          <p:cNvSpPr/>
          <p:nvPr/>
        </p:nvSpPr>
        <p:spPr>
          <a:xfrm>
            <a:off x="5645997" y="6079484"/>
            <a:ext cx="408684" cy="28425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F358602-513B-4D52-AB17-F1E7F4AC70BB}"/>
              </a:ext>
            </a:extLst>
          </p:cNvPr>
          <p:cNvSpPr txBox="1"/>
          <p:nvPr/>
        </p:nvSpPr>
        <p:spPr>
          <a:xfrm>
            <a:off x="2855021" y="5784792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Generan</a:t>
            </a:r>
            <a:r>
              <a:rPr lang="en-US" dirty="0"/>
              <a:t> </a:t>
            </a:r>
          </a:p>
        </p:txBody>
      </p:sp>
      <p:sp>
        <p:nvSpPr>
          <p:cNvPr id="63" name="Flecha: hacia abajo 62">
            <a:extLst>
              <a:ext uri="{FF2B5EF4-FFF2-40B4-BE49-F238E27FC236}">
                <a16:creationId xmlns:a16="http://schemas.microsoft.com/office/drawing/2014/main" id="{BDDD69E5-BD5D-4DC5-A5BA-6F2151F51112}"/>
              </a:ext>
            </a:extLst>
          </p:cNvPr>
          <p:cNvSpPr/>
          <p:nvPr/>
        </p:nvSpPr>
        <p:spPr>
          <a:xfrm rot="16200000">
            <a:off x="4612366" y="6343469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echa: hacia abajo 63">
            <a:extLst>
              <a:ext uri="{FF2B5EF4-FFF2-40B4-BE49-F238E27FC236}">
                <a16:creationId xmlns:a16="http://schemas.microsoft.com/office/drawing/2014/main" id="{AAAE83CB-19C3-4C08-9F2C-B70706B51EC1}"/>
              </a:ext>
            </a:extLst>
          </p:cNvPr>
          <p:cNvSpPr/>
          <p:nvPr/>
        </p:nvSpPr>
        <p:spPr>
          <a:xfrm rot="5400000">
            <a:off x="6808970" y="6383280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strella: 7 puntas 21">
            <a:extLst>
              <a:ext uri="{FF2B5EF4-FFF2-40B4-BE49-F238E27FC236}">
                <a16:creationId xmlns:a16="http://schemas.microsoft.com/office/drawing/2014/main" id="{0E5C2B6F-7445-45B0-BA70-54EA3A2E1C5E}"/>
              </a:ext>
            </a:extLst>
          </p:cNvPr>
          <p:cNvSpPr/>
          <p:nvPr/>
        </p:nvSpPr>
        <p:spPr>
          <a:xfrm rot="19950767">
            <a:off x="-88925" y="187585"/>
            <a:ext cx="2005057" cy="1029652"/>
          </a:xfrm>
          <a:prstGeom prst="star7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¿</a:t>
            </a:r>
            <a:r>
              <a:rPr lang="en-US" sz="1600" b="1" dirty="0" err="1"/>
              <a:t>Quién</a:t>
            </a:r>
            <a:r>
              <a:rPr lang="en-US" sz="1600" b="1" dirty="0"/>
              <a:t>?</a:t>
            </a:r>
          </a:p>
        </p:txBody>
      </p:sp>
      <p:sp>
        <p:nvSpPr>
          <p:cNvPr id="66" name="Estrella: 7 puntas 65">
            <a:extLst>
              <a:ext uri="{FF2B5EF4-FFF2-40B4-BE49-F238E27FC236}">
                <a16:creationId xmlns:a16="http://schemas.microsoft.com/office/drawing/2014/main" id="{8D156219-57A1-4114-988C-DAD2FCEF141A}"/>
              </a:ext>
            </a:extLst>
          </p:cNvPr>
          <p:cNvSpPr/>
          <p:nvPr/>
        </p:nvSpPr>
        <p:spPr>
          <a:xfrm>
            <a:off x="-83922" y="5462797"/>
            <a:ext cx="2005057" cy="1029652"/>
          </a:xfrm>
          <a:prstGeom prst="star7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¿</a:t>
            </a:r>
            <a:r>
              <a:rPr lang="en-US" sz="1600" b="1" dirty="0" err="1"/>
              <a:t>Cómo</a:t>
            </a:r>
            <a:r>
              <a:rPr lang="en-US" sz="1600" b="1" dirty="0"/>
              <a:t>?</a:t>
            </a:r>
          </a:p>
        </p:txBody>
      </p:sp>
      <p:sp>
        <p:nvSpPr>
          <p:cNvPr id="67" name="Estrella: 7 puntas 66">
            <a:extLst>
              <a:ext uri="{FF2B5EF4-FFF2-40B4-BE49-F238E27FC236}">
                <a16:creationId xmlns:a16="http://schemas.microsoft.com/office/drawing/2014/main" id="{6D53CA07-F922-46B4-BE97-201ECE15EC5B}"/>
              </a:ext>
            </a:extLst>
          </p:cNvPr>
          <p:cNvSpPr/>
          <p:nvPr/>
        </p:nvSpPr>
        <p:spPr>
          <a:xfrm>
            <a:off x="7102198" y="1401150"/>
            <a:ext cx="2272948" cy="1868313"/>
          </a:xfrm>
          <a:prstGeom prst="star7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¿Por </a:t>
            </a:r>
            <a:r>
              <a:rPr lang="en-US" sz="1600" b="1" dirty="0" err="1"/>
              <a:t>qué</a:t>
            </a:r>
            <a:r>
              <a:rPr lang="en-US" sz="1600" b="1" dirty="0"/>
              <a:t>?</a:t>
            </a:r>
          </a:p>
        </p:txBody>
      </p:sp>
      <p:sp>
        <p:nvSpPr>
          <p:cNvPr id="68" name="Estrella: 7 puntas 67">
            <a:extLst>
              <a:ext uri="{FF2B5EF4-FFF2-40B4-BE49-F238E27FC236}">
                <a16:creationId xmlns:a16="http://schemas.microsoft.com/office/drawing/2014/main" id="{54D9ACDF-CED2-460B-9539-A028A6AD09F8}"/>
              </a:ext>
            </a:extLst>
          </p:cNvPr>
          <p:cNvSpPr/>
          <p:nvPr/>
        </p:nvSpPr>
        <p:spPr>
          <a:xfrm>
            <a:off x="2040579" y="1360504"/>
            <a:ext cx="2165610" cy="2012714"/>
          </a:xfrm>
          <a:prstGeom prst="star7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¿Para </a:t>
            </a:r>
            <a:r>
              <a:rPr lang="en-US" sz="1600" b="1" dirty="0" err="1"/>
              <a:t>qué</a:t>
            </a:r>
            <a:r>
              <a:rPr lang="en-US" sz="16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8635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6" grpId="0" animBg="1"/>
      <p:bldP spid="67" grpId="0" animBg="1"/>
      <p:bldP spid="6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adroTexto 48">
            <a:extLst>
              <a:ext uri="{FF2B5EF4-FFF2-40B4-BE49-F238E27FC236}">
                <a16:creationId xmlns:a16="http://schemas.microsoft.com/office/drawing/2014/main" id="{577886F9-1698-4C5A-9500-82C941DEA2A0}"/>
              </a:ext>
            </a:extLst>
          </p:cNvPr>
          <p:cNvSpPr txBox="1"/>
          <p:nvPr/>
        </p:nvSpPr>
        <p:spPr>
          <a:xfrm>
            <a:off x="287782" y="2842186"/>
            <a:ext cx="2126877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Definición</a:t>
            </a:r>
            <a:r>
              <a:rPr lang="en-US" dirty="0"/>
              <a:t> de </a:t>
            </a:r>
            <a:r>
              <a:rPr lang="en-US" dirty="0" err="1"/>
              <a:t>dimensiones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del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cualitativo</a:t>
            </a:r>
            <a:endParaRPr lang="en-US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5FA0180-7343-412F-A916-295D59CFD61E}"/>
              </a:ext>
            </a:extLst>
          </p:cNvPr>
          <p:cNvSpPr txBox="1"/>
          <p:nvPr/>
        </p:nvSpPr>
        <p:spPr>
          <a:xfrm>
            <a:off x="71648" y="4508115"/>
            <a:ext cx="1222422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Análisis</a:t>
            </a:r>
            <a:r>
              <a:rPr lang="en-US" dirty="0"/>
              <a:t> dimensional x modo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BFF2EEBD-38DB-430B-9D04-7068D0B07FF8}"/>
              </a:ext>
            </a:extLst>
          </p:cNvPr>
          <p:cNvSpPr/>
          <p:nvPr/>
        </p:nvSpPr>
        <p:spPr>
          <a:xfrm>
            <a:off x="818068" y="5039685"/>
            <a:ext cx="9926131" cy="826919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EA0F9AA-FC0F-4AAC-BB7B-413789FA960B}"/>
              </a:ext>
            </a:extLst>
          </p:cNvPr>
          <p:cNvSpPr/>
          <p:nvPr/>
        </p:nvSpPr>
        <p:spPr>
          <a:xfrm>
            <a:off x="2238574" y="3227612"/>
            <a:ext cx="7427344" cy="1290050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4D44A18-76DE-4F7D-B4D2-174539058287}"/>
              </a:ext>
            </a:extLst>
          </p:cNvPr>
          <p:cNvSpPr/>
          <p:nvPr/>
        </p:nvSpPr>
        <p:spPr>
          <a:xfrm>
            <a:off x="4739958" y="2230928"/>
            <a:ext cx="2100259" cy="30950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Acceso</a:t>
            </a:r>
            <a:r>
              <a:rPr lang="en-US" dirty="0">
                <a:solidFill>
                  <a:sysClr val="windowText" lastClr="000000"/>
                </a:solidFill>
              </a:rPr>
              <a:t> a </a:t>
            </a:r>
            <a:r>
              <a:rPr lang="en-US" dirty="0" err="1">
                <a:solidFill>
                  <a:sysClr val="windowText" lastClr="000000"/>
                </a:solidFill>
              </a:rPr>
              <a:t>recursos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8DE89F7-E7EC-4DE7-9C5E-73DB18054E44}"/>
              </a:ext>
            </a:extLst>
          </p:cNvPr>
          <p:cNvSpPr/>
          <p:nvPr/>
        </p:nvSpPr>
        <p:spPr>
          <a:xfrm>
            <a:off x="2443889" y="3373218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Comodidad</a:t>
            </a:r>
            <a:r>
              <a:rPr lang="en-US" dirty="0"/>
              <a:t>/</a:t>
            </a:r>
          </a:p>
          <a:p>
            <a:pPr algn="ctr"/>
            <a:r>
              <a:rPr lang="en-US" dirty="0" err="1"/>
              <a:t>conveniencia</a:t>
            </a:r>
            <a:endParaRPr lang="en-US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793DD21-4AA4-458E-9076-3C28DD198879}"/>
              </a:ext>
            </a:extLst>
          </p:cNvPr>
          <p:cNvSpPr/>
          <p:nvPr/>
        </p:nvSpPr>
        <p:spPr>
          <a:xfrm>
            <a:off x="3874385" y="3359203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Seguridad</a:t>
            </a:r>
            <a:endParaRPr lang="en-US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72DB932-415C-4269-8475-BB06C3AB0BDF}"/>
              </a:ext>
            </a:extLst>
          </p:cNvPr>
          <p:cNvSpPr/>
          <p:nvPr/>
        </p:nvSpPr>
        <p:spPr>
          <a:xfrm>
            <a:off x="8181503" y="3316845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Eficiencia</a:t>
            </a:r>
            <a:endParaRPr lang="en-US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9329E43-886B-42A4-8DEB-643A74A64391}"/>
              </a:ext>
            </a:extLst>
          </p:cNvPr>
          <p:cNvSpPr/>
          <p:nvPr/>
        </p:nvSpPr>
        <p:spPr>
          <a:xfrm>
            <a:off x="3836767" y="3938209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Economía</a:t>
            </a:r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C919B95-28C7-4BAD-A9E4-65F014691177}"/>
              </a:ext>
            </a:extLst>
          </p:cNvPr>
          <p:cNvSpPr/>
          <p:nvPr/>
        </p:nvSpPr>
        <p:spPr>
          <a:xfrm>
            <a:off x="5302241" y="3938209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Cuidado</a:t>
            </a:r>
            <a:endParaRPr lang="en-U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21D18BD-C49B-4165-B0EE-23B95C735A10}"/>
              </a:ext>
            </a:extLst>
          </p:cNvPr>
          <p:cNvSpPr/>
          <p:nvPr/>
        </p:nvSpPr>
        <p:spPr>
          <a:xfrm>
            <a:off x="6751007" y="3308916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Autonomía</a:t>
            </a:r>
            <a:endParaRPr lang="en-US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8AE8548-C3A4-485D-8A39-5F3BB39E3FEB}"/>
              </a:ext>
            </a:extLst>
          </p:cNvPr>
          <p:cNvSpPr/>
          <p:nvPr/>
        </p:nvSpPr>
        <p:spPr>
          <a:xfrm>
            <a:off x="6711923" y="3938209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Aspiración/ inclusión</a:t>
            </a:r>
            <a:endParaRPr lang="en-US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685B314-5260-4C2A-ADFD-473D132C79B5}"/>
              </a:ext>
            </a:extLst>
          </p:cNvPr>
          <p:cNvSpPr/>
          <p:nvPr/>
        </p:nvSpPr>
        <p:spPr>
          <a:xfrm>
            <a:off x="906872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Auto</a:t>
            </a:r>
            <a:endParaRPr lang="en-US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E3B02F4-48D6-4947-B469-AF36FF766B58}"/>
              </a:ext>
            </a:extLst>
          </p:cNvPr>
          <p:cNvSpPr/>
          <p:nvPr/>
        </p:nvSpPr>
        <p:spPr>
          <a:xfrm>
            <a:off x="2655159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Moto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8A7DB15-F41C-402C-BD57-C1CCAF358D09}"/>
              </a:ext>
            </a:extLst>
          </p:cNvPr>
          <p:cNvSpPr/>
          <p:nvPr/>
        </p:nvSpPr>
        <p:spPr>
          <a:xfrm>
            <a:off x="4354920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T. </a:t>
            </a:r>
            <a:r>
              <a:rPr lang="en-US" dirty="0" err="1"/>
              <a:t>Público</a:t>
            </a:r>
            <a:r>
              <a:rPr lang="en-US" dirty="0"/>
              <a:t> </a:t>
            </a:r>
            <a:r>
              <a:rPr lang="en-US" dirty="0" err="1"/>
              <a:t>Masivo</a:t>
            </a:r>
            <a:endParaRPr lang="en-US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6DA6FDF-54DD-4D61-924C-126A41ADB2BF}"/>
              </a:ext>
            </a:extLst>
          </p:cNvPr>
          <p:cNvSpPr/>
          <p:nvPr/>
        </p:nvSpPr>
        <p:spPr>
          <a:xfrm>
            <a:off x="6054681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T. </a:t>
            </a:r>
            <a:r>
              <a:rPr lang="en-US" dirty="0" err="1"/>
              <a:t>Público</a:t>
            </a:r>
            <a:r>
              <a:rPr lang="en-US" dirty="0"/>
              <a:t> Individual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A2C2382-7EDF-469C-84F6-ACFCD607ED18}"/>
              </a:ext>
            </a:extLst>
          </p:cNvPr>
          <p:cNvSpPr/>
          <p:nvPr/>
        </p:nvSpPr>
        <p:spPr>
          <a:xfrm>
            <a:off x="7426494" y="5184122"/>
            <a:ext cx="1553261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Movilidad </a:t>
            </a:r>
            <a:r>
              <a:rPr lang="en-US" dirty="0" err="1"/>
              <a:t>activa</a:t>
            </a:r>
            <a:r>
              <a:rPr lang="en-US" dirty="0"/>
              <a:t> (</a:t>
            </a:r>
            <a:r>
              <a:rPr lang="en-US" dirty="0" err="1"/>
              <a:t>caminar</a:t>
            </a:r>
            <a:r>
              <a:rPr lang="en-US" dirty="0"/>
              <a:t> – </a:t>
            </a:r>
            <a:r>
              <a:rPr lang="en-US" dirty="0" err="1"/>
              <a:t>bici</a:t>
            </a:r>
            <a:r>
              <a:rPr lang="en-US" dirty="0"/>
              <a:t>)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3F2DDA5-8ED6-4BA8-8692-75847E338124}"/>
              </a:ext>
            </a:extLst>
          </p:cNvPr>
          <p:cNvSpPr/>
          <p:nvPr/>
        </p:nvSpPr>
        <p:spPr>
          <a:xfrm>
            <a:off x="9010879" y="5173427"/>
            <a:ext cx="1733320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Micromovilidad</a:t>
            </a:r>
            <a:r>
              <a:rPr lang="en-US" dirty="0"/>
              <a:t> (</a:t>
            </a:r>
            <a:r>
              <a:rPr lang="en-US" dirty="0" err="1"/>
              <a:t>ciclomotores</a:t>
            </a:r>
            <a:r>
              <a:rPr lang="en-US" dirty="0"/>
              <a:t>, </a:t>
            </a:r>
            <a:r>
              <a:rPr lang="en-US" dirty="0" err="1"/>
              <a:t>patinetas</a:t>
            </a:r>
            <a:r>
              <a:rPr lang="en-US" dirty="0"/>
              <a:t>, </a:t>
            </a:r>
            <a:r>
              <a:rPr lang="en-US" dirty="0" err="1"/>
              <a:t>bici</a:t>
            </a:r>
            <a:r>
              <a:rPr lang="en-US" dirty="0"/>
              <a:t> </a:t>
            </a:r>
            <a:r>
              <a:rPr lang="en-US" dirty="0" err="1"/>
              <a:t>elc</a:t>
            </a:r>
            <a:r>
              <a:rPr lang="en-US" dirty="0"/>
              <a:t>.)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82792D2-0FAE-4658-8A33-B1ECD34EF7CD}"/>
              </a:ext>
            </a:extLst>
          </p:cNvPr>
          <p:cNvSpPr txBox="1"/>
          <p:nvPr/>
        </p:nvSpPr>
        <p:spPr>
          <a:xfrm>
            <a:off x="2855364" y="3210360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Dimensiones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786224BC-964F-4A3C-B44A-D6C092884A7E}"/>
              </a:ext>
            </a:extLst>
          </p:cNvPr>
          <p:cNvSpPr/>
          <p:nvPr/>
        </p:nvSpPr>
        <p:spPr>
          <a:xfrm>
            <a:off x="5594036" y="1841476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F1AF551-95F0-4F4A-AF4D-5572261E7E4E}"/>
              </a:ext>
            </a:extLst>
          </p:cNvPr>
          <p:cNvSpPr txBox="1"/>
          <p:nvPr/>
        </p:nvSpPr>
        <p:spPr>
          <a:xfrm>
            <a:off x="2818340" y="1543973"/>
            <a:ext cx="602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Determinan</a:t>
            </a:r>
            <a:r>
              <a:rPr lang="en-US" dirty="0"/>
              <a:t> 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4BC95A0-4ADD-4EC6-9714-3DA14774DB55}"/>
              </a:ext>
            </a:extLst>
          </p:cNvPr>
          <p:cNvSpPr txBox="1"/>
          <p:nvPr/>
        </p:nvSpPr>
        <p:spPr>
          <a:xfrm>
            <a:off x="2867059" y="2891406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Afectan</a:t>
            </a:r>
            <a:r>
              <a:rPr lang="en-US" dirty="0"/>
              <a:t> peso de las </a:t>
            </a:r>
            <a:r>
              <a:rPr lang="en-US" dirty="0" err="1"/>
              <a:t>dimensiones</a:t>
            </a:r>
            <a:r>
              <a:rPr lang="en-US" dirty="0"/>
              <a:t> de </a:t>
            </a:r>
            <a:r>
              <a:rPr lang="en-US" dirty="0" err="1"/>
              <a:t>elección</a:t>
            </a:r>
            <a:endParaRPr lang="en-US" dirty="0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888C2C43-41CD-4D4D-8104-539EEF3EFC03}"/>
              </a:ext>
            </a:extLst>
          </p:cNvPr>
          <p:cNvSpPr/>
          <p:nvPr/>
        </p:nvSpPr>
        <p:spPr>
          <a:xfrm>
            <a:off x="5079620" y="6368679"/>
            <a:ext cx="1596113" cy="45893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Emisiones</a:t>
            </a:r>
            <a:endParaRPr lang="en-US" b="1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3F9109A-2965-4EDD-B945-14991F119044}"/>
              </a:ext>
            </a:extLst>
          </p:cNvPr>
          <p:cNvSpPr txBox="1"/>
          <p:nvPr/>
        </p:nvSpPr>
        <p:spPr>
          <a:xfrm>
            <a:off x="2855363" y="4786891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Determinan</a:t>
            </a:r>
            <a:r>
              <a:rPr lang="en-US" dirty="0"/>
              <a:t> </a:t>
            </a:r>
            <a:r>
              <a:rPr lang="en-US" dirty="0" err="1"/>
              <a:t>elección</a:t>
            </a:r>
            <a:r>
              <a:rPr lang="en-US" dirty="0"/>
              <a:t> modal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5FB8533-BA44-4284-836B-715D62CC4C83}"/>
              </a:ext>
            </a:extLst>
          </p:cNvPr>
          <p:cNvSpPr txBox="1"/>
          <p:nvPr/>
        </p:nvSpPr>
        <p:spPr>
          <a:xfrm>
            <a:off x="7197861" y="5902078"/>
            <a:ext cx="32893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del </a:t>
            </a:r>
            <a:r>
              <a:rPr lang="en-US" dirty="0" err="1"/>
              <a:t>viaje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Distancia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Frecuencia</a:t>
            </a:r>
            <a:r>
              <a:rPr lang="en-US" dirty="0"/>
              <a:t> de </a:t>
            </a:r>
            <a:r>
              <a:rPr lang="en-US" dirty="0" err="1"/>
              <a:t>viajes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Ocupación</a:t>
            </a:r>
            <a:endParaRPr lang="en-U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EBA40D2-DEC9-4227-BD31-F0AF672F93E9}"/>
              </a:ext>
            </a:extLst>
          </p:cNvPr>
          <p:cNvSpPr txBox="1"/>
          <p:nvPr/>
        </p:nvSpPr>
        <p:spPr>
          <a:xfrm>
            <a:off x="2306142" y="5854510"/>
            <a:ext cx="3289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del modo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Fuente </a:t>
            </a:r>
            <a:r>
              <a:rPr lang="en-US" dirty="0" err="1"/>
              <a:t>energía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Cilindraje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Antigüedad</a:t>
            </a:r>
            <a:endParaRPr lang="en-US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235BCF7-670E-4EBB-92BC-4C29814A9C49}"/>
              </a:ext>
            </a:extLst>
          </p:cNvPr>
          <p:cNvSpPr txBox="1"/>
          <p:nvPr/>
        </p:nvSpPr>
        <p:spPr>
          <a:xfrm>
            <a:off x="9421214" y="1569484"/>
            <a:ext cx="2522507" cy="54852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Sistematización</a:t>
            </a:r>
            <a:r>
              <a:rPr lang="en-US" dirty="0"/>
              <a:t> </a:t>
            </a:r>
            <a:r>
              <a:rPr lang="en-US" dirty="0" err="1"/>
              <a:t>cuantitativa</a:t>
            </a:r>
            <a:r>
              <a:rPr lang="en-US" dirty="0"/>
              <a:t>:</a:t>
            </a:r>
          </a:p>
          <a:p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descriptivo</a:t>
            </a:r>
            <a:endParaRPr lang="en-US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AE4E4BB-32F9-434D-92AB-CF3FAFEAF921}"/>
              </a:ext>
            </a:extLst>
          </p:cNvPr>
          <p:cNvSpPr txBox="1"/>
          <p:nvPr/>
        </p:nvSpPr>
        <p:spPr>
          <a:xfrm>
            <a:off x="9530250" y="2806267"/>
            <a:ext cx="2448400" cy="1903690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En el </a:t>
            </a:r>
            <a:r>
              <a:rPr lang="en-US" dirty="0" err="1"/>
              <a:t>análisis</a:t>
            </a:r>
            <a:r>
              <a:rPr lang="en-US" dirty="0"/>
              <a:t> y </a:t>
            </a:r>
            <a:r>
              <a:rPr lang="en-US" dirty="0" err="1"/>
              <a:t>triangulación</a:t>
            </a:r>
            <a:r>
              <a:rPr lang="en-US" dirty="0"/>
              <a:t>, se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correspondencia</a:t>
            </a:r>
            <a:r>
              <a:rPr lang="en-US" dirty="0"/>
              <a:t> con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cuantitativo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elección</a:t>
            </a:r>
            <a:r>
              <a:rPr lang="en-US" dirty="0"/>
              <a:t> </a:t>
            </a:r>
            <a:r>
              <a:rPr lang="en-US" dirty="0" err="1"/>
              <a:t>discreta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Análisis</a:t>
            </a:r>
            <a:r>
              <a:rPr lang="en-US" dirty="0"/>
              <a:t> factorial</a:t>
            </a:r>
          </a:p>
          <a:p>
            <a:endParaRPr lang="en-US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A163EE2-9C7C-4469-97CF-C89C5FDB3E86}"/>
              </a:ext>
            </a:extLst>
          </p:cNvPr>
          <p:cNvSpPr txBox="1"/>
          <p:nvPr/>
        </p:nvSpPr>
        <p:spPr>
          <a:xfrm>
            <a:off x="87457" y="1527879"/>
            <a:ext cx="2100260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Sistematización</a:t>
            </a:r>
            <a:r>
              <a:rPr lang="en-US" dirty="0"/>
              <a:t> </a:t>
            </a:r>
            <a:r>
              <a:rPr lang="en-US" dirty="0" err="1"/>
              <a:t>cualitativa</a:t>
            </a:r>
            <a:r>
              <a:rPr lang="en-US" dirty="0"/>
              <a:t> de </a:t>
            </a:r>
            <a:r>
              <a:rPr lang="en-US" dirty="0" err="1"/>
              <a:t>grupos</a:t>
            </a:r>
            <a:r>
              <a:rPr lang="en-US" dirty="0"/>
              <a:t>, </a:t>
            </a:r>
            <a:r>
              <a:rPr lang="en-US" dirty="0" err="1"/>
              <a:t>recorridos</a:t>
            </a:r>
            <a:r>
              <a:rPr lang="en-US" dirty="0"/>
              <a:t> y </a:t>
            </a:r>
            <a:r>
              <a:rPr lang="en-US" dirty="0" err="1"/>
              <a:t>entrevistas</a:t>
            </a:r>
            <a:endParaRPr lang="en-U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DD97E33-9EC4-43BA-8C14-0E44D9E66F70}"/>
              </a:ext>
            </a:extLst>
          </p:cNvPr>
          <p:cNvSpPr txBox="1"/>
          <p:nvPr/>
        </p:nvSpPr>
        <p:spPr>
          <a:xfrm>
            <a:off x="9684933" y="6077149"/>
            <a:ext cx="2274018" cy="54852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emisiones</a:t>
            </a:r>
            <a:r>
              <a:rPr lang="en-US" dirty="0"/>
              <a:t> </a:t>
            </a:r>
            <a:r>
              <a:rPr lang="en-US" dirty="0" err="1"/>
              <a:t>según</a:t>
            </a:r>
            <a:r>
              <a:rPr lang="en-US" dirty="0"/>
              <a:t> </a:t>
            </a:r>
            <a:r>
              <a:rPr lang="en-US" dirty="0" err="1"/>
              <a:t>perfil</a:t>
            </a:r>
            <a:r>
              <a:rPr lang="en-US" dirty="0"/>
              <a:t> de la ciudad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BC22E80-11AB-465F-A505-78F6526E8BFB}"/>
              </a:ext>
            </a:extLst>
          </p:cNvPr>
          <p:cNvSpPr txBox="1"/>
          <p:nvPr/>
        </p:nvSpPr>
        <p:spPr>
          <a:xfrm>
            <a:off x="10682467" y="4796930"/>
            <a:ext cx="1222422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Indicadores</a:t>
            </a:r>
            <a:r>
              <a:rPr lang="en-US" dirty="0"/>
              <a:t> de Movilidad 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51145A0-6F02-4516-8A17-67DB8285DDC5}"/>
              </a:ext>
            </a:extLst>
          </p:cNvPr>
          <p:cNvGrpSpPr/>
          <p:nvPr/>
        </p:nvGrpSpPr>
        <p:grpSpPr>
          <a:xfrm>
            <a:off x="1280592" y="36715"/>
            <a:ext cx="9014601" cy="1542268"/>
            <a:chOff x="1101479" y="-385145"/>
            <a:chExt cx="9014601" cy="1542268"/>
          </a:xfrm>
        </p:grpSpPr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70E4F480-B262-4531-92DA-1A307718F097}"/>
                </a:ext>
              </a:extLst>
            </p:cNvPr>
            <p:cNvSpPr/>
            <p:nvPr/>
          </p:nvSpPr>
          <p:spPr>
            <a:xfrm>
              <a:off x="1101479" y="-329576"/>
              <a:ext cx="9014601" cy="1486699"/>
            </a:xfrm>
            <a:prstGeom prst="roundRect">
              <a:avLst/>
            </a:prstGeom>
            <a:solidFill>
              <a:schemeClr val="tx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5AFFF837-1C0C-4140-842E-99A26397A03B}"/>
                </a:ext>
              </a:extLst>
            </p:cNvPr>
            <p:cNvSpPr/>
            <p:nvPr/>
          </p:nvSpPr>
          <p:spPr>
            <a:xfrm>
              <a:off x="8407791" y="522216"/>
              <a:ext cx="1620000" cy="50400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Ubicación en la ciudad</a:t>
              </a:r>
              <a:endParaRPr lang="en-US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7418449A-75E7-4F7D-993E-C7397BBFACC7}"/>
                </a:ext>
              </a:extLst>
            </p:cNvPr>
            <p:cNvSpPr/>
            <p:nvPr/>
          </p:nvSpPr>
          <p:spPr>
            <a:xfrm>
              <a:off x="1229445" y="-38155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Etnia</a:t>
              </a:r>
              <a:endParaRPr lang="en-US" dirty="0"/>
            </a:p>
          </p:txBody>
        </p: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8CAFAD7F-CFAF-45E7-B771-858B8B0A0C65}"/>
                </a:ext>
              </a:extLst>
            </p:cNvPr>
            <p:cNvSpPr/>
            <p:nvPr/>
          </p:nvSpPr>
          <p:spPr>
            <a:xfrm>
              <a:off x="1227937" y="547685"/>
              <a:ext cx="1620000" cy="504000"/>
            </a:xfrm>
            <a:prstGeom prst="roundRect">
              <a:avLst/>
            </a:prstGeom>
            <a:solidFill>
              <a:srgbClr val="42BAD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Género</a:t>
              </a:r>
              <a:endParaRPr lang="en-US" dirty="0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DBC13777-07A1-487C-8FE1-FBF03AA7A53C}"/>
                </a:ext>
              </a:extLst>
            </p:cNvPr>
            <p:cNvSpPr/>
            <p:nvPr/>
          </p:nvSpPr>
          <p:spPr>
            <a:xfrm>
              <a:off x="4779796" y="-64848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Edad</a:t>
              </a:r>
              <a:endParaRPr lang="en-US" dirty="0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E7224076-DF43-4E51-943F-41AEB907447E}"/>
                </a:ext>
              </a:extLst>
            </p:cNvPr>
            <p:cNvSpPr/>
            <p:nvPr/>
          </p:nvSpPr>
          <p:spPr>
            <a:xfrm>
              <a:off x="2977411" y="-52071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Ocupación</a:t>
              </a:r>
              <a:endParaRPr lang="en-US" dirty="0"/>
            </a:p>
          </p:txBody>
        </p:sp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E4FF9FB1-8031-4FDD-B35A-FF40F5C1B3E9}"/>
                </a:ext>
              </a:extLst>
            </p:cNvPr>
            <p:cNvSpPr/>
            <p:nvPr/>
          </p:nvSpPr>
          <p:spPr>
            <a:xfrm>
              <a:off x="6613379" y="-83722"/>
              <a:ext cx="1620000" cy="50400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Experiencias</a:t>
              </a:r>
              <a:r>
                <a:rPr lang="en-US" dirty="0"/>
                <a:t> de </a:t>
              </a:r>
              <a:r>
                <a:rPr lang="en-US" dirty="0" err="1"/>
                <a:t>inseguridad</a:t>
              </a:r>
              <a:endParaRPr lang="en-US" dirty="0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237A2D38-D7B8-4337-8437-07A36F1FA551}"/>
                </a:ext>
              </a:extLst>
            </p:cNvPr>
            <p:cNvSpPr txBox="1"/>
            <p:nvPr/>
          </p:nvSpPr>
          <p:spPr>
            <a:xfrm>
              <a:off x="1346099" y="-385145"/>
              <a:ext cx="8210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Características</a:t>
              </a:r>
              <a:r>
                <a:rPr lang="en-US" dirty="0"/>
                <a:t> del </a:t>
              </a:r>
              <a:r>
                <a:rPr lang="en-US" dirty="0" err="1"/>
                <a:t>individuo</a:t>
              </a:r>
              <a:endParaRPr lang="en-US" dirty="0"/>
            </a:p>
          </p:txBody>
        </p:sp>
        <p:sp>
          <p:nvSpPr>
            <p:cNvPr id="55" name="Rectángulo: esquinas redondeadas 54">
              <a:extLst>
                <a:ext uri="{FF2B5EF4-FFF2-40B4-BE49-F238E27FC236}">
                  <a16:creationId xmlns:a16="http://schemas.microsoft.com/office/drawing/2014/main" id="{604938D8-2F61-4D5A-BB54-DCB9A1EB255A}"/>
                </a:ext>
              </a:extLst>
            </p:cNvPr>
            <p:cNvSpPr/>
            <p:nvPr/>
          </p:nvSpPr>
          <p:spPr>
            <a:xfrm>
              <a:off x="2970887" y="528375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Estrato</a:t>
              </a:r>
              <a:endParaRPr lang="en-US" dirty="0"/>
            </a:p>
          </p:txBody>
        </p:sp>
        <p:sp>
          <p:nvSpPr>
            <p:cNvPr id="56" name="Rectángulo: esquinas redondeadas 55">
              <a:extLst>
                <a:ext uri="{FF2B5EF4-FFF2-40B4-BE49-F238E27FC236}">
                  <a16:creationId xmlns:a16="http://schemas.microsoft.com/office/drawing/2014/main" id="{5914BA1C-010B-4ADB-9802-8CB9FECAA0A3}"/>
                </a:ext>
              </a:extLst>
            </p:cNvPr>
            <p:cNvSpPr/>
            <p:nvPr/>
          </p:nvSpPr>
          <p:spPr>
            <a:xfrm>
              <a:off x="6597190" y="543199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Nivel educativo</a:t>
              </a:r>
              <a:endParaRPr lang="en-US" dirty="0"/>
            </a:p>
          </p:txBody>
        </p:sp>
        <p:sp>
          <p:nvSpPr>
            <p:cNvPr id="57" name="Rectángulo: esquinas redondeadas 56">
              <a:extLst>
                <a:ext uri="{FF2B5EF4-FFF2-40B4-BE49-F238E27FC236}">
                  <a16:creationId xmlns:a16="http://schemas.microsoft.com/office/drawing/2014/main" id="{4BA3BE7B-FA4A-4DAE-A858-1E336D86DFBD}"/>
                </a:ext>
              </a:extLst>
            </p:cNvPr>
            <p:cNvSpPr/>
            <p:nvPr/>
          </p:nvSpPr>
          <p:spPr>
            <a:xfrm>
              <a:off x="8399445" y="-101146"/>
              <a:ext cx="1620000" cy="50400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Percepciones</a:t>
              </a:r>
              <a:endParaRPr lang="en-US" dirty="0"/>
            </a:p>
          </p:txBody>
        </p:sp>
        <p:sp>
          <p:nvSpPr>
            <p:cNvPr id="58" name="Rectángulo: esquinas redondeadas 57">
              <a:extLst>
                <a:ext uri="{FF2B5EF4-FFF2-40B4-BE49-F238E27FC236}">
                  <a16:creationId xmlns:a16="http://schemas.microsoft.com/office/drawing/2014/main" id="{83188AB8-9C7C-4DC1-ADAF-73170B58FF1C}"/>
                </a:ext>
              </a:extLst>
            </p:cNvPr>
            <p:cNvSpPr/>
            <p:nvPr/>
          </p:nvSpPr>
          <p:spPr>
            <a:xfrm>
              <a:off x="4776508" y="543199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Discapacidades</a:t>
              </a:r>
              <a:endParaRPr lang="en-US" dirty="0"/>
            </a:p>
          </p:txBody>
        </p:sp>
      </p:grpSp>
      <p:sp>
        <p:nvSpPr>
          <p:cNvPr id="59" name="Flecha: hacia abajo 58">
            <a:extLst>
              <a:ext uri="{FF2B5EF4-FFF2-40B4-BE49-F238E27FC236}">
                <a16:creationId xmlns:a16="http://schemas.microsoft.com/office/drawing/2014/main" id="{1C2CA5BC-6052-4752-9C20-0C53522E9241}"/>
              </a:ext>
            </a:extLst>
          </p:cNvPr>
          <p:cNvSpPr/>
          <p:nvPr/>
        </p:nvSpPr>
        <p:spPr>
          <a:xfrm>
            <a:off x="5616793" y="2550954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echa: hacia abajo 59">
            <a:extLst>
              <a:ext uri="{FF2B5EF4-FFF2-40B4-BE49-F238E27FC236}">
                <a16:creationId xmlns:a16="http://schemas.microsoft.com/office/drawing/2014/main" id="{849F669C-AC3D-4FB0-ACF1-F34466294064}"/>
              </a:ext>
            </a:extLst>
          </p:cNvPr>
          <p:cNvSpPr/>
          <p:nvPr/>
        </p:nvSpPr>
        <p:spPr>
          <a:xfrm>
            <a:off x="5616793" y="4483140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echa: hacia abajo 60">
            <a:extLst>
              <a:ext uri="{FF2B5EF4-FFF2-40B4-BE49-F238E27FC236}">
                <a16:creationId xmlns:a16="http://schemas.microsoft.com/office/drawing/2014/main" id="{F694E9E1-5E3B-4FB7-8F15-D56CAE6A1715}"/>
              </a:ext>
            </a:extLst>
          </p:cNvPr>
          <p:cNvSpPr/>
          <p:nvPr/>
        </p:nvSpPr>
        <p:spPr>
          <a:xfrm>
            <a:off x="5645997" y="6079484"/>
            <a:ext cx="408684" cy="28425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F358602-513B-4D52-AB17-F1E7F4AC70BB}"/>
              </a:ext>
            </a:extLst>
          </p:cNvPr>
          <p:cNvSpPr txBox="1"/>
          <p:nvPr/>
        </p:nvSpPr>
        <p:spPr>
          <a:xfrm>
            <a:off x="2855021" y="5784792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Generan</a:t>
            </a:r>
            <a:r>
              <a:rPr lang="en-US" dirty="0"/>
              <a:t> </a:t>
            </a:r>
          </a:p>
        </p:txBody>
      </p:sp>
      <p:sp>
        <p:nvSpPr>
          <p:cNvPr id="63" name="Flecha: hacia abajo 62">
            <a:extLst>
              <a:ext uri="{FF2B5EF4-FFF2-40B4-BE49-F238E27FC236}">
                <a16:creationId xmlns:a16="http://schemas.microsoft.com/office/drawing/2014/main" id="{BDDD69E5-BD5D-4DC5-A5BA-6F2151F51112}"/>
              </a:ext>
            </a:extLst>
          </p:cNvPr>
          <p:cNvSpPr/>
          <p:nvPr/>
        </p:nvSpPr>
        <p:spPr>
          <a:xfrm rot="16200000">
            <a:off x="4612366" y="6343469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echa: hacia abajo 63">
            <a:extLst>
              <a:ext uri="{FF2B5EF4-FFF2-40B4-BE49-F238E27FC236}">
                <a16:creationId xmlns:a16="http://schemas.microsoft.com/office/drawing/2014/main" id="{AAAE83CB-19C3-4C08-9F2C-B70706B51EC1}"/>
              </a:ext>
            </a:extLst>
          </p:cNvPr>
          <p:cNvSpPr/>
          <p:nvPr/>
        </p:nvSpPr>
        <p:spPr>
          <a:xfrm rot="5400000">
            <a:off x="6808970" y="6383280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21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adroTexto 48">
            <a:extLst>
              <a:ext uri="{FF2B5EF4-FFF2-40B4-BE49-F238E27FC236}">
                <a16:creationId xmlns:a16="http://schemas.microsoft.com/office/drawing/2014/main" id="{577886F9-1698-4C5A-9500-82C941DEA2A0}"/>
              </a:ext>
            </a:extLst>
          </p:cNvPr>
          <p:cNvSpPr txBox="1"/>
          <p:nvPr/>
        </p:nvSpPr>
        <p:spPr>
          <a:xfrm>
            <a:off x="287782" y="2842186"/>
            <a:ext cx="2126877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Definición</a:t>
            </a:r>
            <a:r>
              <a:rPr lang="en-US" dirty="0"/>
              <a:t> de </a:t>
            </a:r>
            <a:r>
              <a:rPr lang="en-US" dirty="0" err="1"/>
              <a:t>dimensiones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del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cualitativo</a:t>
            </a:r>
            <a:endParaRPr lang="en-US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5FA0180-7343-412F-A916-295D59CFD61E}"/>
              </a:ext>
            </a:extLst>
          </p:cNvPr>
          <p:cNvSpPr txBox="1"/>
          <p:nvPr/>
        </p:nvSpPr>
        <p:spPr>
          <a:xfrm>
            <a:off x="71648" y="4508115"/>
            <a:ext cx="1222422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Análisis</a:t>
            </a:r>
            <a:r>
              <a:rPr lang="en-US" dirty="0"/>
              <a:t> dimensional x modo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BFF2EEBD-38DB-430B-9D04-7068D0B07FF8}"/>
              </a:ext>
            </a:extLst>
          </p:cNvPr>
          <p:cNvSpPr/>
          <p:nvPr/>
        </p:nvSpPr>
        <p:spPr>
          <a:xfrm>
            <a:off x="818068" y="5039685"/>
            <a:ext cx="9926131" cy="826919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EA0F9AA-FC0F-4AAC-BB7B-413789FA960B}"/>
              </a:ext>
            </a:extLst>
          </p:cNvPr>
          <p:cNvSpPr/>
          <p:nvPr/>
        </p:nvSpPr>
        <p:spPr>
          <a:xfrm>
            <a:off x="2238574" y="3227612"/>
            <a:ext cx="7427344" cy="1290050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4D44A18-76DE-4F7D-B4D2-174539058287}"/>
              </a:ext>
            </a:extLst>
          </p:cNvPr>
          <p:cNvSpPr/>
          <p:nvPr/>
        </p:nvSpPr>
        <p:spPr>
          <a:xfrm>
            <a:off x="4739958" y="2230928"/>
            <a:ext cx="2100259" cy="30950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Acceso</a:t>
            </a:r>
            <a:r>
              <a:rPr lang="en-US" dirty="0">
                <a:solidFill>
                  <a:sysClr val="windowText" lastClr="000000"/>
                </a:solidFill>
              </a:rPr>
              <a:t> a </a:t>
            </a:r>
            <a:r>
              <a:rPr lang="en-US" dirty="0" err="1">
                <a:solidFill>
                  <a:sysClr val="windowText" lastClr="000000"/>
                </a:solidFill>
              </a:rPr>
              <a:t>recursos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8DE89F7-E7EC-4DE7-9C5E-73DB18054E44}"/>
              </a:ext>
            </a:extLst>
          </p:cNvPr>
          <p:cNvSpPr/>
          <p:nvPr/>
        </p:nvSpPr>
        <p:spPr>
          <a:xfrm>
            <a:off x="2443889" y="3373218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Comodidad</a:t>
            </a:r>
            <a:r>
              <a:rPr lang="en-US" dirty="0"/>
              <a:t>/</a:t>
            </a:r>
          </a:p>
          <a:p>
            <a:pPr algn="ctr"/>
            <a:r>
              <a:rPr lang="en-US" dirty="0" err="1"/>
              <a:t>conveniencia</a:t>
            </a:r>
            <a:endParaRPr lang="en-US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793DD21-4AA4-458E-9076-3C28DD198879}"/>
              </a:ext>
            </a:extLst>
          </p:cNvPr>
          <p:cNvSpPr/>
          <p:nvPr/>
        </p:nvSpPr>
        <p:spPr>
          <a:xfrm>
            <a:off x="3874385" y="3359203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Seguridad</a:t>
            </a:r>
            <a:endParaRPr lang="en-US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72DB932-415C-4269-8475-BB06C3AB0BDF}"/>
              </a:ext>
            </a:extLst>
          </p:cNvPr>
          <p:cNvSpPr/>
          <p:nvPr/>
        </p:nvSpPr>
        <p:spPr>
          <a:xfrm>
            <a:off x="8181503" y="3316845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Eficiencia</a:t>
            </a:r>
            <a:endParaRPr lang="en-US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9329E43-886B-42A4-8DEB-643A74A64391}"/>
              </a:ext>
            </a:extLst>
          </p:cNvPr>
          <p:cNvSpPr/>
          <p:nvPr/>
        </p:nvSpPr>
        <p:spPr>
          <a:xfrm>
            <a:off x="3836767" y="3938209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Economía</a:t>
            </a:r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C919B95-28C7-4BAD-A9E4-65F014691177}"/>
              </a:ext>
            </a:extLst>
          </p:cNvPr>
          <p:cNvSpPr/>
          <p:nvPr/>
        </p:nvSpPr>
        <p:spPr>
          <a:xfrm>
            <a:off x="5302241" y="3938209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Cuidado</a:t>
            </a:r>
            <a:endParaRPr lang="en-U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21D18BD-C49B-4165-B0EE-23B95C735A10}"/>
              </a:ext>
            </a:extLst>
          </p:cNvPr>
          <p:cNvSpPr/>
          <p:nvPr/>
        </p:nvSpPr>
        <p:spPr>
          <a:xfrm>
            <a:off x="6751007" y="3308916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Autonomía</a:t>
            </a:r>
            <a:endParaRPr lang="en-US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8AE8548-C3A4-485D-8A39-5F3BB39E3FEB}"/>
              </a:ext>
            </a:extLst>
          </p:cNvPr>
          <p:cNvSpPr/>
          <p:nvPr/>
        </p:nvSpPr>
        <p:spPr>
          <a:xfrm>
            <a:off x="6711923" y="3938209"/>
            <a:ext cx="1332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Aspiración/ inclusión</a:t>
            </a:r>
            <a:endParaRPr lang="en-US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685B314-5260-4C2A-ADFD-473D132C79B5}"/>
              </a:ext>
            </a:extLst>
          </p:cNvPr>
          <p:cNvSpPr/>
          <p:nvPr/>
        </p:nvSpPr>
        <p:spPr>
          <a:xfrm>
            <a:off x="906872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Auto</a:t>
            </a:r>
            <a:endParaRPr lang="en-US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E3B02F4-48D6-4947-B469-AF36FF766B58}"/>
              </a:ext>
            </a:extLst>
          </p:cNvPr>
          <p:cNvSpPr/>
          <p:nvPr/>
        </p:nvSpPr>
        <p:spPr>
          <a:xfrm>
            <a:off x="2655159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Moto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8A7DB15-F41C-402C-BD57-C1CCAF358D09}"/>
              </a:ext>
            </a:extLst>
          </p:cNvPr>
          <p:cNvSpPr/>
          <p:nvPr/>
        </p:nvSpPr>
        <p:spPr>
          <a:xfrm>
            <a:off x="4354920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T. </a:t>
            </a:r>
            <a:r>
              <a:rPr lang="en-US" dirty="0" err="1"/>
              <a:t>Público</a:t>
            </a:r>
            <a:r>
              <a:rPr lang="en-US" dirty="0"/>
              <a:t> </a:t>
            </a:r>
            <a:r>
              <a:rPr lang="en-US" dirty="0" err="1"/>
              <a:t>Masivo</a:t>
            </a:r>
            <a:endParaRPr lang="en-US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6DA6FDF-54DD-4D61-924C-126A41ADB2BF}"/>
              </a:ext>
            </a:extLst>
          </p:cNvPr>
          <p:cNvSpPr/>
          <p:nvPr/>
        </p:nvSpPr>
        <p:spPr>
          <a:xfrm>
            <a:off x="6054681" y="5184122"/>
            <a:ext cx="1340689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T. </a:t>
            </a:r>
            <a:r>
              <a:rPr lang="en-US" dirty="0" err="1"/>
              <a:t>Público</a:t>
            </a:r>
            <a:r>
              <a:rPr lang="en-US" dirty="0"/>
              <a:t> Individual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A2C2382-7EDF-469C-84F6-ACFCD607ED18}"/>
              </a:ext>
            </a:extLst>
          </p:cNvPr>
          <p:cNvSpPr/>
          <p:nvPr/>
        </p:nvSpPr>
        <p:spPr>
          <a:xfrm>
            <a:off x="7426494" y="5184122"/>
            <a:ext cx="1553261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Movilidad </a:t>
            </a:r>
            <a:r>
              <a:rPr lang="en-US" dirty="0" err="1"/>
              <a:t>activa</a:t>
            </a:r>
            <a:r>
              <a:rPr lang="en-US" dirty="0"/>
              <a:t> (</a:t>
            </a:r>
            <a:r>
              <a:rPr lang="en-US" dirty="0" err="1"/>
              <a:t>caminar</a:t>
            </a:r>
            <a:r>
              <a:rPr lang="en-US" dirty="0"/>
              <a:t> – </a:t>
            </a:r>
            <a:r>
              <a:rPr lang="en-US" dirty="0" err="1"/>
              <a:t>bici</a:t>
            </a:r>
            <a:r>
              <a:rPr lang="en-US" dirty="0"/>
              <a:t>)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3F2DDA5-8ED6-4BA8-8692-75847E338124}"/>
              </a:ext>
            </a:extLst>
          </p:cNvPr>
          <p:cNvSpPr/>
          <p:nvPr/>
        </p:nvSpPr>
        <p:spPr>
          <a:xfrm>
            <a:off x="9010879" y="5173427"/>
            <a:ext cx="1733320" cy="5865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Micromovilidad</a:t>
            </a:r>
            <a:r>
              <a:rPr lang="en-US" dirty="0"/>
              <a:t> (</a:t>
            </a:r>
            <a:r>
              <a:rPr lang="en-US" dirty="0" err="1"/>
              <a:t>ciclomotores</a:t>
            </a:r>
            <a:r>
              <a:rPr lang="en-US" dirty="0"/>
              <a:t>, </a:t>
            </a:r>
            <a:r>
              <a:rPr lang="en-US" dirty="0" err="1"/>
              <a:t>patinetas</a:t>
            </a:r>
            <a:r>
              <a:rPr lang="en-US" dirty="0"/>
              <a:t>, </a:t>
            </a:r>
            <a:r>
              <a:rPr lang="en-US" dirty="0" err="1"/>
              <a:t>bici</a:t>
            </a:r>
            <a:r>
              <a:rPr lang="en-US" dirty="0"/>
              <a:t> </a:t>
            </a:r>
            <a:r>
              <a:rPr lang="en-US" dirty="0" err="1"/>
              <a:t>elc</a:t>
            </a:r>
            <a:r>
              <a:rPr lang="en-US" dirty="0"/>
              <a:t>.)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82792D2-0FAE-4658-8A33-B1ECD34EF7CD}"/>
              </a:ext>
            </a:extLst>
          </p:cNvPr>
          <p:cNvSpPr txBox="1"/>
          <p:nvPr/>
        </p:nvSpPr>
        <p:spPr>
          <a:xfrm>
            <a:off x="2855364" y="3210360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Dimensiones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786224BC-964F-4A3C-B44A-D6C092884A7E}"/>
              </a:ext>
            </a:extLst>
          </p:cNvPr>
          <p:cNvSpPr/>
          <p:nvPr/>
        </p:nvSpPr>
        <p:spPr>
          <a:xfrm>
            <a:off x="5594036" y="1841476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F1AF551-95F0-4F4A-AF4D-5572261E7E4E}"/>
              </a:ext>
            </a:extLst>
          </p:cNvPr>
          <p:cNvSpPr txBox="1"/>
          <p:nvPr/>
        </p:nvSpPr>
        <p:spPr>
          <a:xfrm>
            <a:off x="2818340" y="1543973"/>
            <a:ext cx="602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Determinan</a:t>
            </a:r>
            <a:r>
              <a:rPr lang="en-US" dirty="0"/>
              <a:t> 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4BC95A0-4ADD-4EC6-9714-3DA14774DB55}"/>
              </a:ext>
            </a:extLst>
          </p:cNvPr>
          <p:cNvSpPr txBox="1"/>
          <p:nvPr/>
        </p:nvSpPr>
        <p:spPr>
          <a:xfrm>
            <a:off x="2867059" y="2891406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Afectan</a:t>
            </a:r>
            <a:r>
              <a:rPr lang="en-US" dirty="0"/>
              <a:t> peso de las </a:t>
            </a:r>
            <a:r>
              <a:rPr lang="en-US" dirty="0" err="1"/>
              <a:t>dimensiones</a:t>
            </a:r>
            <a:r>
              <a:rPr lang="en-US" dirty="0"/>
              <a:t> de </a:t>
            </a:r>
            <a:r>
              <a:rPr lang="en-US" dirty="0" err="1"/>
              <a:t>elección</a:t>
            </a:r>
            <a:endParaRPr lang="en-US" dirty="0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888C2C43-41CD-4D4D-8104-539EEF3EFC03}"/>
              </a:ext>
            </a:extLst>
          </p:cNvPr>
          <p:cNvSpPr/>
          <p:nvPr/>
        </p:nvSpPr>
        <p:spPr>
          <a:xfrm>
            <a:off x="5079620" y="6368679"/>
            <a:ext cx="1596113" cy="45893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Emisiones</a:t>
            </a:r>
            <a:endParaRPr lang="en-US" b="1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3F9109A-2965-4EDD-B945-14991F119044}"/>
              </a:ext>
            </a:extLst>
          </p:cNvPr>
          <p:cNvSpPr txBox="1"/>
          <p:nvPr/>
        </p:nvSpPr>
        <p:spPr>
          <a:xfrm>
            <a:off x="2855363" y="4786891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Determinan</a:t>
            </a:r>
            <a:r>
              <a:rPr lang="en-US" dirty="0"/>
              <a:t> </a:t>
            </a:r>
            <a:r>
              <a:rPr lang="en-US" dirty="0" err="1"/>
              <a:t>elección</a:t>
            </a:r>
            <a:r>
              <a:rPr lang="en-US" dirty="0"/>
              <a:t> modal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5FB8533-BA44-4284-836B-715D62CC4C83}"/>
              </a:ext>
            </a:extLst>
          </p:cNvPr>
          <p:cNvSpPr txBox="1"/>
          <p:nvPr/>
        </p:nvSpPr>
        <p:spPr>
          <a:xfrm>
            <a:off x="7197861" y="5902078"/>
            <a:ext cx="32893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del </a:t>
            </a:r>
            <a:r>
              <a:rPr lang="en-US" dirty="0" err="1"/>
              <a:t>viaje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Distancia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Frecuencia</a:t>
            </a:r>
            <a:r>
              <a:rPr lang="en-US" dirty="0"/>
              <a:t> de </a:t>
            </a:r>
            <a:r>
              <a:rPr lang="en-US" dirty="0" err="1"/>
              <a:t>viajes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Ocupación</a:t>
            </a:r>
            <a:endParaRPr lang="en-U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EBA40D2-DEC9-4227-BD31-F0AF672F93E9}"/>
              </a:ext>
            </a:extLst>
          </p:cNvPr>
          <p:cNvSpPr txBox="1"/>
          <p:nvPr/>
        </p:nvSpPr>
        <p:spPr>
          <a:xfrm>
            <a:off x="2306142" y="5854510"/>
            <a:ext cx="3289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del modo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Fuente </a:t>
            </a:r>
            <a:r>
              <a:rPr lang="en-US" dirty="0" err="1"/>
              <a:t>energía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Cilindraje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Antigüedad</a:t>
            </a:r>
            <a:endParaRPr lang="en-US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235BCF7-670E-4EBB-92BC-4C29814A9C49}"/>
              </a:ext>
            </a:extLst>
          </p:cNvPr>
          <p:cNvSpPr txBox="1"/>
          <p:nvPr/>
        </p:nvSpPr>
        <p:spPr>
          <a:xfrm>
            <a:off x="9421214" y="1569484"/>
            <a:ext cx="2522507" cy="54852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Sistematización</a:t>
            </a:r>
            <a:r>
              <a:rPr lang="en-US" dirty="0"/>
              <a:t> </a:t>
            </a:r>
            <a:r>
              <a:rPr lang="en-US" dirty="0" err="1"/>
              <a:t>cuantitativa</a:t>
            </a:r>
            <a:r>
              <a:rPr lang="en-US" dirty="0"/>
              <a:t>:</a:t>
            </a:r>
          </a:p>
          <a:p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descriptivo</a:t>
            </a:r>
            <a:endParaRPr lang="en-US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AE4E4BB-32F9-434D-92AB-CF3FAFEAF921}"/>
              </a:ext>
            </a:extLst>
          </p:cNvPr>
          <p:cNvSpPr txBox="1"/>
          <p:nvPr/>
        </p:nvSpPr>
        <p:spPr>
          <a:xfrm>
            <a:off x="9530250" y="2806267"/>
            <a:ext cx="2448400" cy="1903690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En el </a:t>
            </a:r>
            <a:r>
              <a:rPr lang="en-US" dirty="0" err="1"/>
              <a:t>análisis</a:t>
            </a:r>
            <a:r>
              <a:rPr lang="en-US" dirty="0"/>
              <a:t> y </a:t>
            </a:r>
            <a:r>
              <a:rPr lang="en-US" dirty="0" err="1"/>
              <a:t>triangulación</a:t>
            </a:r>
            <a:r>
              <a:rPr lang="en-US" dirty="0"/>
              <a:t>, se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correspondencia</a:t>
            </a:r>
            <a:r>
              <a:rPr lang="en-US" dirty="0"/>
              <a:t> con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cuantitativo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elección</a:t>
            </a:r>
            <a:r>
              <a:rPr lang="en-US" dirty="0"/>
              <a:t> </a:t>
            </a:r>
            <a:r>
              <a:rPr lang="en-US" dirty="0" err="1"/>
              <a:t>discreta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Análisis</a:t>
            </a:r>
            <a:r>
              <a:rPr lang="en-US" dirty="0"/>
              <a:t> factorial</a:t>
            </a:r>
          </a:p>
          <a:p>
            <a:endParaRPr lang="en-US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A163EE2-9C7C-4469-97CF-C89C5FDB3E86}"/>
              </a:ext>
            </a:extLst>
          </p:cNvPr>
          <p:cNvSpPr txBox="1"/>
          <p:nvPr/>
        </p:nvSpPr>
        <p:spPr>
          <a:xfrm>
            <a:off x="87457" y="1527879"/>
            <a:ext cx="2100260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Sistematización</a:t>
            </a:r>
            <a:r>
              <a:rPr lang="en-US" dirty="0"/>
              <a:t> </a:t>
            </a:r>
            <a:r>
              <a:rPr lang="en-US" dirty="0" err="1"/>
              <a:t>cualitativa</a:t>
            </a:r>
            <a:r>
              <a:rPr lang="en-US" dirty="0"/>
              <a:t> de </a:t>
            </a:r>
            <a:r>
              <a:rPr lang="en-US" dirty="0" err="1"/>
              <a:t>grupos</a:t>
            </a:r>
            <a:r>
              <a:rPr lang="en-US" dirty="0"/>
              <a:t>, </a:t>
            </a:r>
            <a:r>
              <a:rPr lang="en-US" dirty="0" err="1"/>
              <a:t>recorridos</a:t>
            </a:r>
            <a:r>
              <a:rPr lang="en-US" dirty="0"/>
              <a:t> y </a:t>
            </a:r>
            <a:r>
              <a:rPr lang="en-US" dirty="0" err="1"/>
              <a:t>entrevistas</a:t>
            </a:r>
            <a:endParaRPr lang="en-U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DD97E33-9EC4-43BA-8C14-0E44D9E66F70}"/>
              </a:ext>
            </a:extLst>
          </p:cNvPr>
          <p:cNvSpPr txBox="1"/>
          <p:nvPr/>
        </p:nvSpPr>
        <p:spPr>
          <a:xfrm>
            <a:off x="9684933" y="6077149"/>
            <a:ext cx="2274018" cy="54852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emisiones</a:t>
            </a:r>
            <a:r>
              <a:rPr lang="en-US" dirty="0"/>
              <a:t> </a:t>
            </a:r>
            <a:r>
              <a:rPr lang="en-US" dirty="0" err="1"/>
              <a:t>según</a:t>
            </a:r>
            <a:r>
              <a:rPr lang="en-US" dirty="0"/>
              <a:t> </a:t>
            </a:r>
            <a:r>
              <a:rPr lang="en-US" dirty="0" err="1"/>
              <a:t>perfil</a:t>
            </a:r>
            <a:r>
              <a:rPr lang="en-US" dirty="0"/>
              <a:t> de la ciudad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BC22E80-11AB-465F-A505-78F6526E8BFB}"/>
              </a:ext>
            </a:extLst>
          </p:cNvPr>
          <p:cNvSpPr txBox="1"/>
          <p:nvPr/>
        </p:nvSpPr>
        <p:spPr>
          <a:xfrm>
            <a:off x="10682467" y="4796930"/>
            <a:ext cx="1222422" cy="77438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Indicadores</a:t>
            </a:r>
            <a:r>
              <a:rPr lang="en-US" dirty="0"/>
              <a:t> de Movilidad 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51145A0-6F02-4516-8A17-67DB8285DDC5}"/>
              </a:ext>
            </a:extLst>
          </p:cNvPr>
          <p:cNvGrpSpPr/>
          <p:nvPr/>
        </p:nvGrpSpPr>
        <p:grpSpPr>
          <a:xfrm>
            <a:off x="1280593" y="36715"/>
            <a:ext cx="10624296" cy="6215631"/>
            <a:chOff x="1101480" y="-385145"/>
            <a:chExt cx="10624296" cy="6215631"/>
          </a:xfrm>
        </p:grpSpPr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70E4F480-B262-4531-92DA-1A307718F097}"/>
                </a:ext>
              </a:extLst>
            </p:cNvPr>
            <p:cNvSpPr/>
            <p:nvPr/>
          </p:nvSpPr>
          <p:spPr>
            <a:xfrm>
              <a:off x="1101480" y="-329576"/>
              <a:ext cx="7253808" cy="1486699"/>
            </a:xfrm>
            <a:prstGeom prst="roundRect">
              <a:avLst/>
            </a:prstGeom>
            <a:solidFill>
              <a:schemeClr val="tx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5AFFF837-1C0C-4140-842E-99A26397A03B}"/>
                </a:ext>
              </a:extLst>
            </p:cNvPr>
            <p:cNvSpPr/>
            <p:nvPr/>
          </p:nvSpPr>
          <p:spPr>
            <a:xfrm>
              <a:off x="9078824" y="5326486"/>
              <a:ext cx="1620000" cy="504000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Ubicación</a:t>
              </a:r>
              <a:r>
                <a:rPr lang="en-US" dirty="0"/>
                <a:t> en la ciudad</a:t>
              </a:r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7418449A-75E7-4F7D-993E-C7397BBFACC7}"/>
                </a:ext>
              </a:extLst>
            </p:cNvPr>
            <p:cNvSpPr/>
            <p:nvPr/>
          </p:nvSpPr>
          <p:spPr>
            <a:xfrm>
              <a:off x="1229445" y="-38155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Etnia</a:t>
              </a:r>
              <a:endParaRPr lang="en-US" dirty="0"/>
            </a:p>
          </p:txBody>
        </p: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8CAFAD7F-CFAF-45E7-B771-858B8B0A0C65}"/>
                </a:ext>
              </a:extLst>
            </p:cNvPr>
            <p:cNvSpPr/>
            <p:nvPr/>
          </p:nvSpPr>
          <p:spPr>
            <a:xfrm>
              <a:off x="1227937" y="547685"/>
              <a:ext cx="1620000" cy="504000"/>
            </a:xfrm>
            <a:prstGeom prst="roundRect">
              <a:avLst/>
            </a:prstGeom>
            <a:solidFill>
              <a:srgbClr val="42BAD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Género</a:t>
              </a:r>
              <a:endParaRPr lang="en-US" dirty="0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DBC13777-07A1-487C-8FE1-FBF03AA7A53C}"/>
                </a:ext>
              </a:extLst>
            </p:cNvPr>
            <p:cNvSpPr/>
            <p:nvPr/>
          </p:nvSpPr>
          <p:spPr>
            <a:xfrm>
              <a:off x="4779796" y="-64848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Edad</a:t>
              </a:r>
              <a:endParaRPr lang="en-US" dirty="0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E7224076-DF43-4E51-943F-41AEB907447E}"/>
                </a:ext>
              </a:extLst>
            </p:cNvPr>
            <p:cNvSpPr/>
            <p:nvPr/>
          </p:nvSpPr>
          <p:spPr>
            <a:xfrm>
              <a:off x="2977411" y="-52071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Ocupación</a:t>
              </a:r>
              <a:endParaRPr lang="en-US" dirty="0"/>
            </a:p>
          </p:txBody>
        </p:sp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E4FF9FB1-8031-4FDD-B35A-FF40F5C1B3E9}"/>
                </a:ext>
              </a:extLst>
            </p:cNvPr>
            <p:cNvSpPr/>
            <p:nvPr/>
          </p:nvSpPr>
          <p:spPr>
            <a:xfrm>
              <a:off x="8355288" y="-53464"/>
              <a:ext cx="1620000" cy="504000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Experiencias</a:t>
              </a:r>
              <a:r>
                <a:rPr lang="en-US" dirty="0"/>
                <a:t> de </a:t>
              </a:r>
              <a:r>
                <a:rPr lang="en-US" dirty="0" err="1"/>
                <a:t>inseguridad</a:t>
              </a:r>
              <a:endParaRPr lang="en-US" dirty="0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237A2D38-D7B8-4337-8437-07A36F1FA551}"/>
                </a:ext>
              </a:extLst>
            </p:cNvPr>
            <p:cNvSpPr txBox="1"/>
            <p:nvPr/>
          </p:nvSpPr>
          <p:spPr>
            <a:xfrm>
              <a:off x="1346099" y="-385145"/>
              <a:ext cx="821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Aspectos</a:t>
              </a:r>
              <a:r>
                <a:rPr lang="en-US" dirty="0"/>
                <a:t> </a:t>
              </a:r>
              <a:r>
                <a:rPr lang="en-US" dirty="0" err="1"/>
                <a:t>estructurales</a:t>
              </a:r>
              <a:r>
                <a:rPr lang="en-US" dirty="0"/>
                <a:t> del </a:t>
              </a:r>
              <a:r>
                <a:rPr lang="en-US" dirty="0" err="1"/>
                <a:t>individuo</a:t>
              </a:r>
              <a:endParaRPr lang="en-US" dirty="0"/>
            </a:p>
          </p:txBody>
        </p:sp>
        <p:sp>
          <p:nvSpPr>
            <p:cNvPr id="55" name="Rectángulo: esquinas redondeadas 54">
              <a:extLst>
                <a:ext uri="{FF2B5EF4-FFF2-40B4-BE49-F238E27FC236}">
                  <a16:creationId xmlns:a16="http://schemas.microsoft.com/office/drawing/2014/main" id="{604938D8-2F61-4D5A-BB54-DCB9A1EB255A}"/>
                </a:ext>
              </a:extLst>
            </p:cNvPr>
            <p:cNvSpPr/>
            <p:nvPr/>
          </p:nvSpPr>
          <p:spPr>
            <a:xfrm>
              <a:off x="2970887" y="528375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Estrato</a:t>
              </a:r>
              <a:endParaRPr lang="en-US" dirty="0"/>
            </a:p>
          </p:txBody>
        </p:sp>
        <p:sp>
          <p:nvSpPr>
            <p:cNvPr id="56" name="Rectángulo: esquinas redondeadas 55">
              <a:extLst>
                <a:ext uri="{FF2B5EF4-FFF2-40B4-BE49-F238E27FC236}">
                  <a16:creationId xmlns:a16="http://schemas.microsoft.com/office/drawing/2014/main" id="{5914BA1C-010B-4ADB-9802-8CB9FECAA0A3}"/>
                </a:ext>
              </a:extLst>
            </p:cNvPr>
            <p:cNvSpPr/>
            <p:nvPr/>
          </p:nvSpPr>
          <p:spPr>
            <a:xfrm>
              <a:off x="6597190" y="543199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Nivel educativo</a:t>
              </a:r>
              <a:endParaRPr lang="en-US" dirty="0"/>
            </a:p>
          </p:txBody>
        </p:sp>
        <p:sp>
          <p:nvSpPr>
            <p:cNvPr id="57" name="Rectángulo: esquinas redondeadas 56">
              <a:extLst>
                <a:ext uri="{FF2B5EF4-FFF2-40B4-BE49-F238E27FC236}">
                  <a16:creationId xmlns:a16="http://schemas.microsoft.com/office/drawing/2014/main" id="{4BA3BE7B-FA4A-4DAE-A858-1E336D86DFBD}"/>
                </a:ext>
              </a:extLst>
            </p:cNvPr>
            <p:cNvSpPr/>
            <p:nvPr/>
          </p:nvSpPr>
          <p:spPr>
            <a:xfrm>
              <a:off x="10105776" y="-83116"/>
              <a:ext cx="1620000" cy="504000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Percepciones</a:t>
              </a:r>
              <a:endParaRPr lang="en-US" dirty="0"/>
            </a:p>
          </p:txBody>
        </p:sp>
        <p:sp>
          <p:nvSpPr>
            <p:cNvPr id="58" name="Rectángulo: esquinas redondeadas 57">
              <a:extLst>
                <a:ext uri="{FF2B5EF4-FFF2-40B4-BE49-F238E27FC236}">
                  <a16:creationId xmlns:a16="http://schemas.microsoft.com/office/drawing/2014/main" id="{83188AB8-9C7C-4DC1-ADAF-73170B58FF1C}"/>
                </a:ext>
              </a:extLst>
            </p:cNvPr>
            <p:cNvSpPr/>
            <p:nvPr/>
          </p:nvSpPr>
          <p:spPr>
            <a:xfrm>
              <a:off x="4776508" y="543199"/>
              <a:ext cx="1620000" cy="5040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Discapacidades</a:t>
              </a:r>
              <a:endParaRPr lang="en-US" dirty="0"/>
            </a:p>
          </p:txBody>
        </p:sp>
      </p:grpSp>
      <p:sp>
        <p:nvSpPr>
          <p:cNvPr id="59" name="Flecha: hacia abajo 58">
            <a:extLst>
              <a:ext uri="{FF2B5EF4-FFF2-40B4-BE49-F238E27FC236}">
                <a16:creationId xmlns:a16="http://schemas.microsoft.com/office/drawing/2014/main" id="{1C2CA5BC-6052-4752-9C20-0C53522E9241}"/>
              </a:ext>
            </a:extLst>
          </p:cNvPr>
          <p:cNvSpPr/>
          <p:nvPr/>
        </p:nvSpPr>
        <p:spPr>
          <a:xfrm>
            <a:off x="5616793" y="2550954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echa: hacia abajo 59">
            <a:extLst>
              <a:ext uri="{FF2B5EF4-FFF2-40B4-BE49-F238E27FC236}">
                <a16:creationId xmlns:a16="http://schemas.microsoft.com/office/drawing/2014/main" id="{849F669C-AC3D-4FB0-ACF1-F34466294064}"/>
              </a:ext>
            </a:extLst>
          </p:cNvPr>
          <p:cNvSpPr/>
          <p:nvPr/>
        </p:nvSpPr>
        <p:spPr>
          <a:xfrm>
            <a:off x="5616793" y="4483140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echa: hacia abajo 60">
            <a:extLst>
              <a:ext uri="{FF2B5EF4-FFF2-40B4-BE49-F238E27FC236}">
                <a16:creationId xmlns:a16="http://schemas.microsoft.com/office/drawing/2014/main" id="{F694E9E1-5E3B-4FB7-8F15-D56CAE6A1715}"/>
              </a:ext>
            </a:extLst>
          </p:cNvPr>
          <p:cNvSpPr/>
          <p:nvPr/>
        </p:nvSpPr>
        <p:spPr>
          <a:xfrm>
            <a:off x="5645997" y="6079484"/>
            <a:ext cx="408684" cy="28425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F358602-513B-4D52-AB17-F1E7F4AC70BB}"/>
              </a:ext>
            </a:extLst>
          </p:cNvPr>
          <p:cNvSpPr txBox="1"/>
          <p:nvPr/>
        </p:nvSpPr>
        <p:spPr>
          <a:xfrm>
            <a:off x="2855021" y="5784792"/>
            <a:ext cx="602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Generan</a:t>
            </a:r>
            <a:r>
              <a:rPr lang="en-US" dirty="0"/>
              <a:t> </a:t>
            </a:r>
          </a:p>
        </p:txBody>
      </p:sp>
      <p:sp>
        <p:nvSpPr>
          <p:cNvPr id="63" name="Flecha: hacia abajo 62">
            <a:extLst>
              <a:ext uri="{FF2B5EF4-FFF2-40B4-BE49-F238E27FC236}">
                <a16:creationId xmlns:a16="http://schemas.microsoft.com/office/drawing/2014/main" id="{BDDD69E5-BD5D-4DC5-A5BA-6F2151F51112}"/>
              </a:ext>
            </a:extLst>
          </p:cNvPr>
          <p:cNvSpPr/>
          <p:nvPr/>
        </p:nvSpPr>
        <p:spPr>
          <a:xfrm rot="16200000">
            <a:off x="4612366" y="6343469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echa: hacia abajo 63">
            <a:extLst>
              <a:ext uri="{FF2B5EF4-FFF2-40B4-BE49-F238E27FC236}">
                <a16:creationId xmlns:a16="http://schemas.microsoft.com/office/drawing/2014/main" id="{AAAE83CB-19C3-4C08-9F2C-B70706B51EC1}"/>
              </a:ext>
            </a:extLst>
          </p:cNvPr>
          <p:cNvSpPr/>
          <p:nvPr/>
        </p:nvSpPr>
        <p:spPr>
          <a:xfrm rot="5400000">
            <a:off x="6808970" y="6383280"/>
            <a:ext cx="365551" cy="37624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strella: 7 puntas 21">
            <a:extLst>
              <a:ext uri="{FF2B5EF4-FFF2-40B4-BE49-F238E27FC236}">
                <a16:creationId xmlns:a16="http://schemas.microsoft.com/office/drawing/2014/main" id="{0E5C2B6F-7445-45B0-BA70-54EA3A2E1C5E}"/>
              </a:ext>
            </a:extLst>
          </p:cNvPr>
          <p:cNvSpPr/>
          <p:nvPr/>
        </p:nvSpPr>
        <p:spPr>
          <a:xfrm rot="19950767">
            <a:off x="-88925" y="187585"/>
            <a:ext cx="2005057" cy="1029652"/>
          </a:xfrm>
          <a:prstGeom prst="star7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¿</a:t>
            </a:r>
            <a:r>
              <a:rPr lang="en-US" sz="1600" b="1" dirty="0" err="1"/>
              <a:t>Quién</a:t>
            </a:r>
            <a:r>
              <a:rPr lang="en-US" sz="1600" b="1" dirty="0"/>
              <a:t>?</a:t>
            </a:r>
          </a:p>
        </p:txBody>
      </p:sp>
      <p:sp>
        <p:nvSpPr>
          <p:cNvPr id="66" name="Estrella: 7 puntas 65">
            <a:extLst>
              <a:ext uri="{FF2B5EF4-FFF2-40B4-BE49-F238E27FC236}">
                <a16:creationId xmlns:a16="http://schemas.microsoft.com/office/drawing/2014/main" id="{8D156219-57A1-4114-988C-DAD2FCEF141A}"/>
              </a:ext>
            </a:extLst>
          </p:cNvPr>
          <p:cNvSpPr/>
          <p:nvPr/>
        </p:nvSpPr>
        <p:spPr>
          <a:xfrm>
            <a:off x="-83922" y="5462797"/>
            <a:ext cx="2005057" cy="1029652"/>
          </a:xfrm>
          <a:prstGeom prst="star7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¿</a:t>
            </a:r>
            <a:r>
              <a:rPr lang="en-US" sz="1600" b="1" dirty="0" err="1"/>
              <a:t>Cómo</a:t>
            </a:r>
            <a:r>
              <a:rPr lang="en-US" sz="1600" b="1" dirty="0"/>
              <a:t>?</a:t>
            </a:r>
          </a:p>
        </p:txBody>
      </p:sp>
      <p:sp>
        <p:nvSpPr>
          <p:cNvPr id="67" name="Estrella: 7 puntas 66">
            <a:extLst>
              <a:ext uri="{FF2B5EF4-FFF2-40B4-BE49-F238E27FC236}">
                <a16:creationId xmlns:a16="http://schemas.microsoft.com/office/drawing/2014/main" id="{6D53CA07-F922-46B4-BE97-201ECE15EC5B}"/>
              </a:ext>
            </a:extLst>
          </p:cNvPr>
          <p:cNvSpPr/>
          <p:nvPr/>
        </p:nvSpPr>
        <p:spPr>
          <a:xfrm>
            <a:off x="7508446" y="2269785"/>
            <a:ext cx="2005057" cy="1029652"/>
          </a:xfrm>
          <a:prstGeom prst="star7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¿Por </a:t>
            </a:r>
            <a:r>
              <a:rPr lang="en-US" sz="1600" b="1" dirty="0" err="1"/>
              <a:t>qué</a:t>
            </a:r>
            <a:r>
              <a:rPr lang="en-US" sz="1600" b="1" dirty="0"/>
              <a:t>?</a:t>
            </a:r>
          </a:p>
        </p:txBody>
      </p:sp>
      <p:sp>
        <p:nvSpPr>
          <p:cNvPr id="68" name="Estrella: 7 puntas 67">
            <a:extLst>
              <a:ext uri="{FF2B5EF4-FFF2-40B4-BE49-F238E27FC236}">
                <a16:creationId xmlns:a16="http://schemas.microsoft.com/office/drawing/2014/main" id="{54D9ACDF-CED2-460B-9539-A028A6AD09F8}"/>
              </a:ext>
            </a:extLst>
          </p:cNvPr>
          <p:cNvSpPr/>
          <p:nvPr/>
        </p:nvSpPr>
        <p:spPr>
          <a:xfrm>
            <a:off x="2129692" y="2228925"/>
            <a:ext cx="2005057" cy="1029652"/>
          </a:xfrm>
          <a:prstGeom prst="star7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¿Para </a:t>
            </a:r>
            <a:r>
              <a:rPr lang="en-US" sz="1600" b="1" dirty="0" err="1"/>
              <a:t>qué</a:t>
            </a:r>
            <a:r>
              <a:rPr lang="en-US" sz="1600" b="1" dirty="0"/>
              <a:t>?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D209D343-C384-4399-8647-8E859911CFE6}"/>
              </a:ext>
            </a:extLst>
          </p:cNvPr>
          <p:cNvSpPr txBox="1"/>
          <p:nvPr/>
        </p:nvSpPr>
        <p:spPr>
          <a:xfrm>
            <a:off x="5206385" y="-4507"/>
            <a:ext cx="8210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Aspectos</a:t>
            </a:r>
            <a:r>
              <a:rPr lang="en-US" dirty="0"/>
              <a:t> </a:t>
            </a:r>
            <a:r>
              <a:rPr lang="en-US" dirty="0" err="1"/>
              <a:t>subjetivos</a:t>
            </a:r>
            <a:r>
              <a:rPr lang="en-US" dirty="0"/>
              <a:t> del </a:t>
            </a:r>
            <a:r>
              <a:rPr lang="en-US" dirty="0" err="1"/>
              <a:t>individuo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2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6" grpId="0" animBg="1"/>
      <p:bldP spid="67" grpId="0" animBg="1"/>
      <p:bldP spid="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788;p6">
            <a:extLst>
              <a:ext uri="{FF2B5EF4-FFF2-40B4-BE49-F238E27FC236}">
                <a16:creationId xmlns:a16="http://schemas.microsoft.com/office/drawing/2014/main" id="{5D683228-6A84-4E04-9355-B8E85069DA8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4121EE-F817-4277-82F1-B951CD9F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1160"/>
            <a:ext cx="10515600" cy="3489327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Resultados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Regresión</a:t>
            </a:r>
            <a:r>
              <a:rPr lang="en-US" dirty="0"/>
              <a:t> MNL Caso Cali</a:t>
            </a:r>
            <a:br>
              <a:rPr lang="en-US" dirty="0"/>
            </a:br>
            <a:br>
              <a:rPr lang="en-US" dirty="0"/>
            </a:br>
            <a:r>
              <a:rPr lang="en-US" sz="3600" dirty="0" err="1"/>
              <a:t>Aspectos</a:t>
            </a:r>
            <a:r>
              <a:rPr lang="en-US" sz="3600" dirty="0"/>
              <a:t> que </a:t>
            </a:r>
            <a:r>
              <a:rPr lang="en-US" sz="3600" dirty="0" err="1"/>
              <a:t>influyen</a:t>
            </a:r>
            <a:r>
              <a:rPr lang="en-US" sz="3600" dirty="0"/>
              <a:t> en la </a:t>
            </a:r>
            <a:r>
              <a:rPr lang="en-US" sz="3600" dirty="0" err="1"/>
              <a:t>probabilidad</a:t>
            </a:r>
            <a:r>
              <a:rPr lang="en-US" sz="3600" dirty="0"/>
              <a:t> de </a:t>
            </a:r>
            <a:r>
              <a:rPr lang="en-US" sz="3600" dirty="0" err="1"/>
              <a:t>elegir</a:t>
            </a:r>
            <a:r>
              <a:rPr lang="en-US" sz="3600" dirty="0"/>
              <a:t> un </a:t>
            </a:r>
            <a:r>
              <a:rPr lang="en-US" sz="3600" dirty="0" err="1"/>
              <a:t>determinado</a:t>
            </a:r>
            <a:r>
              <a:rPr lang="en-US" sz="3600" dirty="0"/>
              <a:t> modo de </a:t>
            </a:r>
            <a:r>
              <a:rPr lang="en-US" sz="3600" dirty="0" err="1"/>
              <a:t>transporte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046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788;p6">
            <a:extLst>
              <a:ext uri="{FF2B5EF4-FFF2-40B4-BE49-F238E27FC236}">
                <a16:creationId xmlns:a16="http://schemas.microsoft.com/office/drawing/2014/main" id="{C3E3D537-5AB2-4E36-B537-BFC11A5C79A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EEE6AB-A9FE-4028-93F8-C2D12B7E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379250"/>
            <a:ext cx="10669937" cy="898007"/>
          </a:xfrm>
        </p:spPr>
        <p:txBody>
          <a:bodyPr>
            <a:normAutofit fontScale="90000"/>
          </a:bodyPr>
          <a:lstStyle/>
          <a:p>
            <a:pPr marL="114300" algn="ctr"/>
            <a:r>
              <a:rPr lang="es-CO" sz="4000" dirty="0"/>
              <a:t>Aspectos que influyen en la probabilidad de uso del auto privado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84BEA8-4088-46C7-802A-13F375C6A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755" y="1811500"/>
            <a:ext cx="5691754" cy="4667250"/>
          </a:xfrm>
        </p:spPr>
        <p:txBody>
          <a:bodyPr>
            <a:normAutofit fontScale="85000" lnSpcReduction="20000"/>
          </a:bodyPr>
          <a:lstStyle/>
          <a:p>
            <a:pPr marL="114300" lvl="0" indent="0">
              <a:buNone/>
            </a:pPr>
            <a:r>
              <a:rPr lang="es-ES" sz="2400" b="1" dirty="0">
                <a:solidFill>
                  <a:srgbClr val="7030A0"/>
                </a:solidFill>
              </a:rPr>
              <a:t>Incrementa cuando los individuos: </a:t>
            </a:r>
          </a:p>
          <a:p>
            <a:pPr lvl="0"/>
            <a:r>
              <a:rPr lang="es-ES" sz="2400" dirty="0">
                <a:solidFill>
                  <a:schemeClr val="tx1"/>
                </a:solidFill>
              </a:rPr>
              <a:t>Asignan un nivel de importancia alto al tiempo de viaje</a:t>
            </a:r>
          </a:p>
          <a:p>
            <a:pPr lvl="0"/>
            <a:r>
              <a:rPr lang="es-ES" sz="2400" dirty="0">
                <a:solidFill>
                  <a:schemeClr val="tx1"/>
                </a:solidFill>
              </a:rPr>
              <a:t>Asignan un nivel de importancia alto a la probabilidad de sufrir acoso </a:t>
            </a:r>
          </a:p>
          <a:p>
            <a:pPr lvl="0"/>
            <a:r>
              <a:rPr lang="es-ES" sz="2400" dirty="0">
                <a:solidFill>
                  <a:schemeClr val="tx1"/>
                </a:solidFill>
              </a:rPr>
              <a:t>Asignan un nivel de importancia alto a la probabilidad de ser víctima de un acto de delincuencia</a:t>
            </a:r>
          </a:p>
          <a:p>
            <a:r>
              <a:rPr lang="es-ES" sz="2400" dirty="0"/>
              <a:t>Han vivido experiencias de acoso, discriminación o delincuencia</a:t>
            </a:r>
          </a:p>
          <a:p>
            <a:r>
              <a:rPr lang="es-CO" sz="2400" dirty="0">
                <a:solidFill>
                  <a:schemeClr val="tx1"/>
                </a:solidFill>
              </a:rPr>
              <a:t>Viven en un hogar en el que hay autos </a:t>
            </a:r>
          </a:p>
          <a:p>
            <a:r>
              <a:rPr lang="es-CO" sz="2400" dirty="0">
                <a:solidFill>
                  <a:schemeClr val="tx1"/>
                </a:solidFill>
              </a:rPr>
              <a:t>Viven en un hogar en el que no hay motocicletas</a:t>
            </a:r>
          </a:p>
          <a:p>
            <a:r>
              <a:rPr lang="es-CO" sz="2400" dirty="0">
                <a:solidFill>
                  <a:schemeClr val="tx1"/>
                </a:solidFill>
              </a:rPr>
              <a:t>Saben conducir auto</a:t>
            </a:r>
          </a:p>
          <a:p>
            <a:r>
              <a:rPr lang="es-CO" sz="2400" dirty="0">
                <a:solidFill>
                  <a:schemeClr val="tx1"/>
                </a:solidFill>
              </a:rPr>
              <a:t>Recorren distancias de más de 12 </a:t>
            </a:r>
            <a:r>
              <a:rPr lang="es-CO" sz="2400" dirty="0" err="1">
                <a:solidFill>
                  <a:schemeClr val="tx1"/>
                </a:solidFill>
              </a:rPr>
              <a:t>kms</a:t>
            </a:r>
            <a:r>
              <a:rPr lang="es-CO" sz="2400" dirty="0">
                <a:solidFill>
                  <a:schemeClr val="tx1"/>
                </a:solidFill>
              </a:rPr>
              <a:t> por trayecto</a:t>
            </a:r>
          </a:p>
          <a:p>
            <a:endParaRPr lang="es-ES" sz="1500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5F75C323-2A65-4019-861E-ECEE71B42266}"/>
              </a:ext>
            </a:extLst>
          </p:cNvPr>
          <p:cNvSpPr txBox="1">
            <a:spLocks/>
          </p:cNvSpPr>
          <p:nvPr/>
        </p:nvSpPr>
        <p:spPr>
          <a:xfrm>
            <a:off x="6338807" y="1811500"/>
            <a:ext cx="56917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sz="2200" b="1" dirty="0">
                <a:solidFill>
                  <a:srgbClr val="00B0F0"/>
                </a:solidFill>
              </a:rPr>
              <a:t>Disminuye cuando los individuos: </a:t>
            </a:r>
          </a:p>
          <a:p>
            <a:r>
              <a:rPr lang="es-ES" sz="2200" dirty="0"/>
              <a:t>Se auto reconocen como mujeres</a:t>
            </a:r>
          </a:p>
          <a:p>
            <a:r>
              <a:rPr lang="es-ES" sz="2200" dirty="0"/>
              <a:t>Saben conducir moto </a:t>
            </a:r>
          </a:p>
          <a:p>
            <a:r>
              <a:rPr lang="es-CO" sz="2200" dirty="0">
                <a:solidFill>
                  <a:schemeClr val="tx1"/>
                </a:solidFill>
              </a:rPr>
              <a:t>Viven en un hogar en el que hay motocicletas</a:t>
            </a:r>
          </a:p>
          <a:p>
            <a:r>
              <a:rPr lang="es-ES" sz="2200" dirty="0"/>
              <a:t>Tienen el cuidado como propósito principal de sus viajes</a:t>
            </a:r>
          </a:p>
          <a:p>
            <a:r>
              <a:rPr lang="es-ES" sz="2200" dirty="0"/>
              <a:t>Tienen como propósito principal de sus viajes ir a estudiar</a:t>
            </a:r>
          </a:p>
          <a:p>
            <a:r>
              <a:rPr lang="es-ES" sz="2200" dirty="0"/>
              <a:t>Viven en estrato bajo </a:t>
            </a:r>
            <a:endParaRPr lang="en-US" sz="2200" dirty="0"/>
          </a:p>
          <a:p>
            <a:pPr marL="114300" indent="0">
              <a:buNone/>
            </a:pPr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2573659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788;p6">
            <a:extLst>
              <a:ext uri="{FF2B5EF4-FFF2-40B4-BE49-F238E27FC236}">
                <a16:creationId xmlns:a16="http://schemas.microsoft.com/office/drawing/2014/main" id="{C3E3D537-5AB2-4E36-B537-BFC11A5C79A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EEE6AB-A9FE-4028-93F8-C2D12B7E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277650"/>
            <a:ext cx="10669937" cy="1325563"/>
          </a:xfrm>
        </p:spPr>
        <p:txBody>
          <a:bodyPr>
            <a:normAutofit/>
          </a:bodyPr>
          <a:lstStyle/>
          <a:p>
            <a:pPr marL="114300" algn="ctr"/>
            <a:r>
              <a:rPr lang="es-CO" sz="3600" dirty="0"/>
              <a:t>Aspectos que influyen en la probabilidad de uso de la moto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84BEA8-4088-46C7-802A-13F375C6A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755" y="1811500"/>
            <a:ext cx="5691754" cy="4667250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es-ES" sz="2400" b="1" dirty="0">
                <a:solidFill>
                  <a:srgbClr val="7030A0"/>
                </a:solidFill>
              </a:rPr>
              <a:t>Incrementa cuando los individuos: </a:t>
            </a:r>
          </a:p>
          <a:p>
            <a:r>
              <a:rPr lang="es-ES" dirty="0">
                <a:solidFill>
                  <a:schemeClr val="tx1"/>
                </a:solidFill>
              </a:rPr>
              <a:t>Se auto reconocen como hombres</a:t>
            </a:r>
          </a:p>
          <a:p>
            <a:r>
              <a:rPr lang="es-ES" dirty="0">
                <a:solidFill>
                  <a:schemeClr val="tx1"/>
                </a:solidFill>
              </a:rPr>
              <a:t>Asignar un nivel de importancia alto al costo. </a:t>
            </a:r>
          </a:p>
          <a:p>
            <a:r>
              <a:rPr lang="es-ES" dirty="0">
                <a:solidFill>
                  <a:schemeClr val="tx1"/>
                </a:solidFill>
              </a:rPr>
              <a:t>Asignan un nivel de importancia alto al tiempo de viaje</a:t>
            </a:r>
          </a:p>
          <a:p>
            <a:r>
              <a:rPr lang="es-ES" dirty="0">
                <a:solidFill>
                  <a:schemeClr val="tx1"/>
                </a:solidFill>
              </a:rPr>
              <a:t>Asignan un nivel de importancia bajo a las emisiones</a:t>
            </a:r>
          </a:p>
          <a:p>
            <a:endParaRPr lang="es-ES" dirty="0">
              <a:solidFill>
                <a:schemeClr val="tx1"/>
              </a:solidFill>
            </a:endParaRPr>
          </a:p>
          <a:p>
            <a:pPr lvl="0"/>
            <a:endParaRPr lang="es-ES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5F75C323-2A65-4019-861E-ECEE71B42266}"/>
              </a:ext>
            </a:extLst>
          </p:cNvPr>
          <p:cNvSpPr txBox="1">
            <a:spLocks/>
          </p:cNvSpPr>
          <p:nvPr/>
        </p:nvSpPr>
        <p:spPr>
          <a:xfrm>
            <a:off x="6345264" y="1704813"/>
            <a:ext cx="56917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sz="2400" b="1" dirty="0">
                <a:solidFill>
                  <a:srgbClr val="00B0F0"/>
                </a:solidFill>
              </a:rPr>
              <a:t>Disminuye cuando los individuos: </a:t>
            </a:r>
          </a:p>
          <a:p>
            <a:r>
              <a:rPr lang="es-ES" sz="2400" dirty="0"/>
              <a:t>Son mayores (55-80 años)</a:t>
            </a:r>
            <a:endParaRPr lang="en-US" sz="2400" dirty="0"/>
          </a:p>
          <a:p>
            <a:r>
              <a:rPr lang="es-CO" sz="2400" dirty="0"/>
              <a:t>Son profesionales</a:t>
            </a:r>
          </a:p>
          <a:p>
            <a:r>
              <a:rPr lang="es-ES" sz="2400" dirty="0">
                <a:solidFill>
                  <a:schemeClr val="tx1"/>
                </a:solidFill>
              </a:rPr>
              <a:t>Asignan un nivel de importancia alto a la probabilidad de ser víctima de un acto de delincuencia</a:t>
            </a:r>
          </a:p>
          <a:p>
            <a:r>
              <a:rPr lang="es-ES" sz="2400" dirty="0">
                <a:solidFill>
                  <a:schemeClr val="tx1"/>
                </a:solidFill>
              </a:rPr>
              <a:t>Asignan un nivel de importancia alto a la siniestralidad vial</a:t>
            </a:r>
          </a:p>
          <a:p>
            <a:endParaRPr lang="es-ES" sz="2400" dirty="0">
              <a:solidFill>
                <a:schemeClr val="tx1"/>
              </a:solidFill>
            </a:endParaRPr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712849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83F9BE7D-53B1-47F8-8DE5-6513A1043D95}"/>
              </a:ext>
            </a:extLst>
          </p:cNvPr>
          <p:cNvSpPr txBox="1">
            <a:spLocks/>
          </p:cNvSpPr>
          <p:nvPr/>
        </p:nvSpPr>
        <p:spPr>
          <a:xfrm>
            <a:off x="315507" y="1811500"/>
            <a:ext cx="5691754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sz="2400" b="1" dirty="0">
                <a:solidFill>
                  <a:srgbClr val="7030A0"/>
                </a:solidFill>
              </a:rPr>
              <a:t>Incrementa cuando los individuos: </a:t>
            </a:r>
          </a:p>
          <a:p>
            <a:r>
              <a:rPr lang="es-CO" sz="2400" dirty="0">
                <a:solidFill>
                  <a:schemeClr val="tx1"/>
                </a:solidFill>
              </a:rPr>
              <a:t>Tienen tiempos de viaje extendidos. </a:t>
            </a:r>
          </a:p>
          <a:p>
            <a:r>
              <a:rPr lang="es-CO" sz="2400" dirty="0">
                <a:solidFill>
                  <a:schemeClr val="tx1"/>
                </a:solidFill>
              </a:rPr>
              <a:t>No poseen licencia de conducción.</a:t>
            </a:r>
          </a:p>
          <a:p>
            <a:r>
              <a:rPr lang="es-CO" sz="2400" dirty="0">
                <a:solidFill>
                  <a:schemeClr val="tx1"/>
                </a:solidFill>
              </a:rPr>
              <a:t>Viven en un hogar en el que no hay motocicletas ni autos. </a:t>
            </a:r>
          </a:p>
          <a:p>
            <a:r>
              <a:rPr lang="es-CO" sz="2400" dirty="0">
                <a:solidFill>
                  <a:schemeClr val="tx1"/>
                </a:solidFill>
              </a:rPr>
              <a:t>Tienen como propósito de viaje recreación, salud o actividades personales. </a:t>
            </a:r>
          </a:p>
          <a:p>
            <a:r>
              <a:rPr lang="es-CO" sz="2400" dirty="0">
                <a:solidFill>
                  <a:schemeClr val="tx1"/>
                </a:solidFill>
              </a:rPr>
              <a:t>Tienen como propósito de viaje ir a estudiar.</a:t>
            </a:r>
          </a:p>
          <a:p>
            <a:r>
              <a:rPr lang="es-ES" sz="2400" dirty="0">
                <a:solidFill>
                  <a:schemeClr val="tx1"/>
                </a:solidFill>
              </a:rPr>
              <a:t>Asignan un nivel de importancia alto a las emisiones. </a:t>
            </a:r>
          </a:p>
          <a:p>
            <a:r>
              <a:rPr lang="es-ES" sz="2400" dirty="0"/>
              <a:t>Se auto reconocen como parte de una etnia </a:t>
            </a:r>
          </a:p>
          <a:p>
            <a:endParaRPr lang="es-ES" sz="2400" dirty="0">
              <a:solidFill>
                <a:schemeClr val="tx1"/>
              </a:solidFill>
            </a:endParaRPr>
          </a:p>
          <a:p>
            <a:endParaRPr lang="es-ES" sz="1500" dirty="0"/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DC40B8F2-AC94-4EFB-B5D4-B30F7AD3EE06}"/>
              </a:ext>
            </a:extLst>
          </p:cNvPr>
          <p:cNvSpPr txBox="1">
            <a:spLocks/>
          </p:cNvSpPr>
          <p:nvPr/>
        </p:nvSpPr>
        <p:spPr>
          <a:xfrm>
            <a:off x="6275307" y="1825625"/>
            <a:ext cx="56917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sz="2200" b="1" dirty="0">
                <a:solidFill>
                  <a:srgbClr val="00B0F0"/>
                </a:solidFill>
              </a:rPr>
              <a:t>Disminuye cuando los individuos: </a:t>
            </a:r>
          </a:p>
          <a:p>
            <a:r>
              <a:rPr lang="es-ES" sz="2400" dirty="0">
                <a:solidFill>
                  <a:schemeClr val="tx1"/>
                </a:solidFill>
              </a:rPr>
              <a:t>Asignar un nivel de importancia alto a la comodidad. </a:t>
            </a:r>
          </a:p>
          <a:p>
            <a:r>
              <a:rPr lang="es-ES" sz="2400" dirty="0"/>
              <a:t>Tienen el cuidado como propósito principal de sus viajes</a:t>
            </a:r>
          </a:p>
          <a:p>
            <a:r>
              <a:rPr lang="es-ES" sz="2400" dirty="0"/>
              <a:t>Saben conducir moto </a:t>
            </a:r>
          </a:p>
          <a:p>
            <a:endParaRPr lang="es-ES" sz="2400" dirty="0"/>
          </a:p>
          <a:p>
            <a:endParaRPr lang="es-ES" sz="2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s-CO" sz="220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36E7F565-77B4-4B19-8EF2-E183AFE8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379250"/>
            <a:ext cx="10669937" cy="898007"/>
          </a:xfrm>
        </p:spPr>
        <p:txBody>
          <a:bodyPr>
            <a:normAutofit fontScale="90000"/>
          </a:bodyPr>
          <a:lstStyle/>
          <a:p>
            <a:pPr marL="114300" algn="ctr"/>
            <a:r>
              <a:rPr lang="es-CO" sz="4000" dirty="0"/>
              <a:t>Aspectos que influyen en la probabilidad de uso del transporte público masivo</a:t>
            </a:r>
          </a:p>
        </p:txBody>
      </p:sp>
    </p:spTree>
    <p:extLst>
      <p:ext uri="{BB962C8B-B14F-4D97-AF65-F5344CB8AC3E}">
        <p14:creationId xmlns:p14="http://schemas.microsoft.com/office/powerpoint/2010/main" val="1204608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788;p6">
            <a:extLst>
              <a:ext uri="{FF2B5EF4-FFF2-40B4-BE49-F238E27FC236}">
                <a16:creationId xmlns:a16="http://schemas.microsoft.com/office/drawing/2014/main" id="{C3E3D537-5AB2-4E36-B537-BFC11A5C79A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EEE6AB-A9FE-4028-93F8-C2D12B7E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241219"/>
            <a:ext cx="10669937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algn="ctr"/>
            <a:r>
              <a:rPr lang="es-CO" sz="3600" dirty="0"/>
              <a:t>Aspectos que influyen en la probabilidad de </a:t>
            </a:r>
            <a:r>
              <a:rPr lang="es-CO" sz="3600"/>
              <a:t>uso del transporte </a:t>
            </a:r>
            <a:r>
              <a:rPr lang="es-CO" sz="3600" dirty="0"/>
              <a:t>público individual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84BEA8-4088-46C7-802A-13F375C6A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755" y="1811500"/>
            <a:ext cx="5691754" cy="4667250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es-ES" sz="2400" b="1" dirty="0">
                <a:solidFill>
                  <a:srgbClr val="7030A0"/>
                </a:solidFill>
              </a:rPr>
              <a:t>Incrementa cuando los individuos: </a:t>
            </a:r>
          </a:p>
          <a:p>
            <a:pPr lvl="1"/>
            <a:r>
              <a:rPr lang="es-ES" dirty="0"/>
              <a:t>Se auto reconocen como mujeres</a:t>
            </a:r>
          </a:p>
          <a:p>
            <a:pPr lvl="1"/>
            <a:r>
              <a:rPr lang="es-ES" dirty="0"/>
              <a:t>Han vivido experiencias de acoso, discriminación o delincuencia</a:t>
            </a:r>
          </a:p>
          <a:p>
            <a:pPr lvl="1"/>
            <a:r>
              <a:rPr lang="es-ES" dirty="0"/>
              <a:t>Son mayores (55-80 años)</a:t>
            </a:r>
            <a:endParaRPr lang="en-US" dirty="0"/>
          </a:p>
          <a:p>
            <a:pPr lvl="1"/>
            <a:r>
              <a:rPr lang="es-ES" dirty="0"/>
              <a:t>Viven en un hogar en el que no hay autos ni motos</a:t>
            </a:r>
          </a:p>
          <a:p>
            <a:pPr lvl="1"/>
            <a:r>
              <a:rPr lang="es-ES" dirty="0"/>
              <a:t>Tienen como propósito principal de sus viajes ir a estudiar</a:t>
            </a:r>
          </a:p>
          <a:p>
            <a:pPr lvl="1"/>
            <a:endParaRPr lang="es-ES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5F75C323-2A65-4019-861E-ECEE71B42266}"/>
              </a:ext>
            </a:extLst>
          </p:cNvPr>
          <p:cNvSpPr txBox="1">
            <a:spLocks/>
          </p:cNvSpPr>
          <p:nvPr/>
        </p:nvSpPr>
        <p:spPr>
          <a:xfrm>
            <a:off x="6338807" y="1811500"/>
            <a:ext cx="56917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sz="2200" b="1" dirty="0">
                <a:solidFill>
                  <a:srgbClr val="00B0F0"/>
                </a:solidFill>
              </a:rPr>
              <a:t>Disminuye cuando los individuos: </a:t>
            </a:r>
          </a:p>
          <a:p>
            <a:r>
              <a:rPr lang="es-ES" sz="2400" dirty="0">
                <a:solidFill>
                  <a:schemeClr val="tx1"/>
                </a:solidFill>
              </a:rPr>
              <a:t>Asignan un nivel de importancia alto al </a:t>
            </a:r>
            <a:r>
              <a:rPr lang="es-ES" sz="2400" dirty="0"/>
              <a:t> costo</a:t>
            </a:r>
          </a:p>
          <a:p>
            <a:r>
              <a:rPr lang="es-ES" sz="2400" dirty="0"/>
              <a:t>Tienen tiempos de viaje largos</a:t>
            </a:r>
          </a:p>
          <a:p>
            <a:r>
              <a:rPr lang="es-ES" sz="2400" dirty="0"/>
              <a:t>Se </a:t>
            </a:r>
            <a:r>
              <a:rPr lang="es-ES" sz="2400" dirty="0" err="1"/>
              <a:t>autoreconocen</a:t>
            </a:r>
            <a:r>
              <a:rPr lang="es-ES" sz="2400" dirty="0"/>
              <a:t> como parte de una etnia </a:t>
            </a:r>
          </a:p>
          <a:p>
            <a:r>
              <a:rPr lang="es-ES" sz="2400" dirty="0"/>
              <a:t>Saben conducir moto o auto</a:t>
            </a:r>
          </a:p>
          <a:p>
            <a:r>
              <a:rPr lang="es-ES" sz="2400" dirty="0"/>
              <a:t>Tienen como propósito principal de sus viajes actividades asociadas al cuidado </a:t>
            </a:r>
          </a:p>
          <a:p>
            <a:r>
              <a:rPr lang="es-ES" sz="2400" dirty="0"/>
              <a:t>Son de estrato bajo o medio</a:t>
            </a:r>
          </a:p>
          <a:p>
            <a:endParaRPr lang="es-ES" sz="1400" dirty="0"/>
          </a:p>
          <a:p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275536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788;p6">
            <a:extLst>
              <a:ext uri="{FF2B5EF4-FFF2-40B4-BE49-F238E27FC236}">
                <a16:creationId xmlns:a16="http://schemas.microsoft.com/office/drawing/2014/main" id="{C3E3D537-5AB2-4E36-B537-BFC11A5C79A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EEE6AB-A9FE-4028-93F8-C2D12B7E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277650"/>
            <a:ext cx="10669937" cy="1325563"/>
          </a:xfrm>
        </p:spPr>
        <p:txBody>
          <a:bodyPr>
            <a:normAutofit/>
          </a:bodyPr>
          <a:lstStyle/>
          <a:p>
            <a:pPr marL="114300" algn="ctr"/>
            <a:r>
              <a:rPr lang="es-CO" sz="3600" dirty="0"/>
              <a:t>Aspectos que influyen en la probabilidad de uso del transporte informal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84BEA8-4088-46C7-802A-13F375C6A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755" y="1811500"/>
            <a:ext cx="5691754" cy="4667250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es-ES" sz="2400" b="1" dirty="0">
                <a:solidFill>
                  <a:srgbClr val="7030A0"/>
                </a:solidFill>
              </a:rPr>
              <a:t>Incrementa cuando los individuos: </a:t>
            </a:r>
          </a:p>
          <a:p>
            <a:pPr lvl="0"/>
            <a:r>
              <a:rPr lang="es-ES" sz="2400" dirty="0"/>
              <a:t>Están dedicados al trabajo doméstico no remunerado</a:t>
            </a:r>
            <a:endParaRPr lang="en-US" sz="2400" dirty="0"/>
          </a:p>
          <a:p>
            <a:pPr lvl="0"/>
            <a:r>
              <a:rPr lang="es-ES" sz="2400" dirty="0"/>
              <a:t>Tienen como propósito principal de sus viajes ir a estudiar o trabajar.</a:t>
            </a:r>
          </a:p>
          <a:p>
            <a:pPr lvl="0"/>
            <a:r>
              <a:rPr lang="es-ES" sz="2400" dirty="0"/>
              <a:t>Tienen edad media (35-54 años). </a:t>
            </a:r>
          </a:p>
          <a:p>
            <a:r>
              <a:rPr lang="es-ES" sz="2400" dirty="0"/>
              <a:t>Se auto reconocen como parte de una etnia </a:t>
            </a:r>
          </a:p>
          <a:p>
            <a:pPr lvl="0"/>
            <a:endParaRPr lang="es-ES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5F75C323-2A65-4019-861E-ECEE71B42266}"/>
              </a:ext>
            </a:extLst>
          </p:cNvPr>
          <p:cNvSpPr txBox="1">
            <a:spLocks/>
          </p:cNvSpPr>
          <p:nvPr/>
        </p:nvSpPr>
        <p:spPr>
          <a:xfrm>
            <a:off x="6345264" y="1704813"/>
            <a:ext cx="56917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sz="2400" b="1" dirty="0">
                <a:solidFill>
                  <a:srgbClr val="00B0F0"/>
                </a:solidFill>
              </a:rPr>
              <a:t>Disminuye cuando los individuos: </a:t>
            </a:r>
          </a:p>
          <a:p>
            <a:r>
              <a:rPr lang="es-ES" sz="2400" dirty="0"/>
              <a:t>Están desocupados o inactivos</a:t>
            </a:r>
          </a:p>
          <a:p>
            <a:r>
              <a:rPr lang="es-ES" sz="2400" dirty="0"/>
              <a:t>Tienen educación secundaria o profesional</a:t>
            </a:r>
            <a:endParaRPr lang="en-US" sz="2400" dirty="0"/>
          </a:p>
          <a:p>
            <a:r>
              <a:rPr lang="es-ES" sz="2400" dirty="0"/>
              <a:t>Viajan para hacer un trámite personal, realizar actividad física, recreativa o religiosa</a:t>
            </a:r>
          </a:p>
          <a:p>
            <a:r>
              <a:rPr lang="es-ES" sz="2400" dirty="0"/>
              <a:t>Viven en un hogar en el que no hay autos ni motocicletas</a:t>
            </a:r>
            <a:endParaRPr lang="en-US" sz="2400" dirty="0"/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441283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788;p6">
            <a:extLst>
              <a:ext uri="{FF2B5EF4-FFF2-40B4-BE49-F238E27FC236}">
                <a16:creationId xmlns:a16="http://schemas.microsoft.com/office/drawing/2014/main" id="{C3E3D537-5AB2-4E36-B537-BFC11A5C79A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EEE6AB-A9FE-4028-93F8-C2D12B7E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277650"/>
            <a:ext cx="10669937" cy="1325563"/>
          </a:xfrm>
        </p:spPr>
        <p:txBody>
          <a:bodyPr>
            <a:normAutofit/>
          </a:bodyPr>
          <a:lstStyle/>
          <a:p>
            <a:pPr marL="114300" algn="ctr"/>
            <a:r>
              <a:rPr lang="es-CO" sz="3600" dirty="0"/>
              <a:t>Aspectos que influyen en la probabilidad de uso de los modos activos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84BEA8-4088-46C7-802A-13F375C6A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755" y="1811500"/>
            <a:ext cx="5691754" cy="4667250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es-ES" sz="2400" b="1" dirty="0">
                <a:solidFill>
                  <a:srgbClr val="7030A0"/>
                </a:solidFill>
              </a:rPr>
              <a:t>Incrementa cuando los individuos: 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Se auto reconocen como mujeres</a:t>
            </a:r>
          </a:p>
          <a:p>
            <a:pPr lvl="1"/>
            <a:r>
              <a:rPr lang="es-ES" dirty="0"/>
              <a:t>Son mayores (55- 80 años).</a:t>
            </a:r>
            <a:endParaRPr lang="en-US" dirty="0"/>
          </a:p>
          <a:p>
            <a:pPr lvl="1"/>
            <a:r>
              <a:rPr lang="es-ES" dirty="0"/>
              <a:t>una mayor probabilidad de usar modos activos.</a:t>
            </a:r>
          </a:p>
          <a:p>
            <a:pPr lvl="1"/>
            <a:r>
              <a:rPr lang="es-ES" dirty="0"/>
              <a:t>Viven en un hogar en el que no hay motocicletas</a:t>
            </a:r>
          </a:p>
          <a:p>
            <a:pPr lvl="1"/>
            <a:r>
              <a:rPr lang="es-ES" dirty="0"/>
              <a:t>Viven en un hogar en el que si hay autos</a:t>
            </a:r>
            <a:endParaRPr lang="en-US" dirty="0"/>
          </a:p>
          <a:p>
            <a:pPr lvl="0"/>
            <a:endParaRPr lang="es-ES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5F75C323-2A65-4019-861E-ECEE71B42266}"/>
              </a:ext>
            </a:extLst>
          </p:cNvPr>
          <p:cNvSpPr txBox="1">
            <a:spLocks/>
          </p:cNvSpPr>
          <p:nvPr/>
        </p:nvSpPr>
        <p:spPr>
          <a:xfrm>
            <a:off x="6345264" y="1704813"/>
            <a:ext cx="56917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sz="2400" b="1" dirty="0">
                <a:solidFill>
                  <a:srgbClr val="00B0F0"/>
                </a:solidFill>
              </a:rPr>
              <a:t>Disminuye cuando los individuos: </a:t>
            </a:r>
          </a:p>
          <a:p>
            <a:pPr marL="114300" indent="0">
              <a:buFont typeface="Arial"/>
              <a:buNone/>
            </a:pPr>
            <a:endParaRPr lang="es-ES" sz="2400" b="1" dirty="0">
              <a:solidFill>
                <a:srgbClr val="00B0F0"/>
              </a:solidFill>
            </a:endParaRPr>
          </a:p>
          <a:p>
            <a:r>
              <a:rPr lang="es-ES" sz="2400" dirty="0"/>
              <a:t>Están en estrato bajo</a:t>
            </a:r>
          </a:p>
          <a:p>
            <a:r>
              <a:rPr lang="es-ES" sz="2400" dirty="0"/>
              <a:t>Tienen como propósito principal de sus viajes actividades asociadas al cuidado </a:t>
            </a:r>
          </a:p>
          <a:p>
            <a:r>
              <a:rPr lang="es-CO" sz="2400" dirty="0">
                <a:solidFill>
                  <a:schemeClr val="tx1"/>
                </a:solidFill>
              </a:rPr>
              <a:t>Recorren distancias de más de 12 </a:t>
            </a:r>
            <a:r>
              <a:rPr lang="es-CO" sz="2400" dirty="0" err="1">
                <a:solidFill>
                  <a:schemeClr val="tx1"/>
                </a:solidFill>
              </a:rPr>
              <a:t>kms</a:t>
            </a:r>
            <a:r>
              <a:rPr lang="es-CO" sz="2400" dirty="0">
                <a:solidFill>
                  <a:schemeClr val="tx1"/>
                </a:solidFill>
              </a:rPr>
              <a:t> por trayecto</a:t>
            </a:r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125345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788;p6">
            <a:extLst>
              <a:ext uri="{FF2B5EF4-FFF2-40B4-BE49-F238E27FC236}">
                <a16:creationId xmlns:a16="http://schemas.microsoft.com/office/drawing/2014/main" id="{5D683228-6A84-4E04-9355-B8E85069DA8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4121EE-F817-4277-82F1-B951CD9F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1160"/>
            <a:ext cx="10515600" cy="3489327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Resultados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Regresión</a:t>
            </a:r>
            <a:r>
              <a:rPr lang="en-US" dirty="0"/>
              <a:t> MNL Caso Medellín</a:t>
            </a:r>
            <a:br>
              <a:rPr lang="en-US" dirty="0"/>
            </a:br>
            <a:br>
              <a:rPr lang="en-US" dirty="0"/>
            </a:br>
            <a:r>
              <a:rPr lang="en-US" sz="3600" dirty="0" err="1"/>
              <a:t>Aspectos</a:t>
            </a:r>
            <a:r>
              <a:rPr lang="en-US" sz="3600" dirty="0"/>
              <a:t> que </a:t>
            </a:r>
            <a:r>
              <a:rPr lang="en-US" sz="3600" dirty="0" err="1"/>
              <a:t>influyen</a:t>
            </a:r>
            <a:r>
              <a:rPr lang="en-US" sz="3600" dirty="0"/>
              <a:t> en la </a:t>
            </a:r>
            <a:r>
              <a:rPr lang="en-US" sz="3600" dirty="0" err="1"/>
              <a:t>probabilidad</a:t>
            </a:r>
            <a:r>
              <a:rPr lang="en-US" sz="3600" dirty="0"/>
              <a:t> de </a:t>
            </a:r>
            <a:r>
              <a:rPr lang="en-US" sz="3600" dirty="0" err="1"/>
              <a:t>elegir</a:t>
            </a:r>
            <a:r>
              <a:rPr lang="en-US" sz="3600" dirty="0"/>
              <a:t> un </a:t>
            </a:r>
            <a:r>
              <a:rPr lang="en-US" sz="3600" dirty="0" err="1"/>
              <a:t>determinado</a:t>
            </a:r>
            <a:r>
              <a:rPr lang="en-US" sz="3600" dirty="0"/>
              <a:t> modo de </a:t>
            </a:r>
            <a:r>
              <a:rPr lang="en-US" sz="3600" dirty="0" err="1"/>
              <a:t>transporte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227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83F9BE7D-53B1-47F8-8DE5-6513A1043D95}"/>
              </a:ext>
            </a:extLst>
          </p:cNvPr>
          <p:cNvSpPr txBox="1">
            <a:spLocks/>
          </p:cNvSpPr>
          <p:nvPr/>
        </p:nvSpPr>
        <p:spPr>
          <a:xfrm>
            <a:off x="315507" y="1811500"/>
            <a:ext cx="5691754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sz="2400" b="1" dirty="0">
                <a:solidFill>
                  <a:srgbClr val="7030A0"/>
                </a:solidFill>
              </a:rPr>
              <a:t>Incrementa cuando los individuos: </a:t>
            </a:r>
          </a:p>
          <a:p>
            <a:r>
              <a:rPr lang="es-ES" sz="2400" dirty="0">
                <a:solidFill>
                  <a:schemeClr val="tx1"/>
                </a:solidFill>
              </a:rPr>
              <a:t>Asignan un nivel de importancia alto a la probabilidad de ser víctima de un acto de delincuencia</a:t>
            </a:r>
          </a:p>
          <a:p>
            <a:r>
              <a:rPr lang="es-ES" sz="2400" dirty="0"/>
              <a:t>Tienen el cuidado como propósito principal de sus viajes</a:t>
            </a:r>
          </a:p>
          <a:p>
            <a:pPr lvl="0"/>
            <a:r>
              <a:rPr lang="es-CO" sz="2400" dirty="0"/>
              <a:t>Saben conducir moto</a:t>
            </a:r>
            <a:endParaRPr lang="en-US" sz="2400" dirty="0"/>
          </a:p>
          <a:p>
            <a:r>
              <a:rPr lang="es-ES" sz="2400" dirty="0"/>
              <a:t>Viven en un hogar en el que no hay motocicletas</a:t>
            </a:r>
            <a:endParaRPr lang="en-US" sz="2400" dirty="0"/>
          </a:p>
          <a:p>
            <a:endParaRPr lang="es-ES" sz="2400" dirty="0">
              <a:solidFill>
                <a:schemeClr val="tx1"/>
              </a:solidFill>
            </a:endParaRPr>
          </a:p>
          <a:p>
            <a:endParaRPr lang="es-ES" sz="1500" dirty="0"/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DC40B8F2-AC94-4EFB-B5D4-B30F7AD3EE06}"/>
              </a:ext>
            </a:extLst>
          </p:cNvPr>
          <p:cNvSpPr txBox="1">
            <a:spLocks/>
          </p:cNvSpPr>
          <p:nvPr/>
        </p:nvSpPr>
        <p:spPr>
          <a:xfrm>
            <a:off x="6275307" y="1825625"/>
            <a:ext cx="56917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sz="2400" b="1" dirty="0">
                <a:solidFill>
                  <a:srgbClr val="00B0F0"/>
                </a:solidFill>
              </a:rPr>
              <a:t>Disminuye cuando los individuos: </a:t>
            </a:r>
          </a:p>
          <a:p>
            <a:r>
              <a:rPr lang="es-ES" sz="2400" dirty="0"/>
              <a:t>Tienen como propósito principal de sus viajes ir a estudiar </a:t>
            </a:r>
          </a:p>
          <a:p>
            <a:r>
              <a:rPr lang="es-ES" sz="2400" dirty="0"/>
              <a:t>Están en estratos medios o bajos</a:t>
            </a:r>
            <a:endParaRPr lang="es-CO" sz="240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36E7F565-77B4-4B19-8EF2-E183AFE8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379250"/>
            <a:ext cx="10669937" cy="898007"/>
          </a:xfrm>
        </p:spPr>
        <p:txBody>
          <a:bodyPr>
            <a:normAutofit fontScale="90000"/>
          </a:bodyPr>
          <a:lstStyle/>
          <a:p>
            <a:pPr marL="114300" algn="ctr"/>
            <a:r>
              <a:rPr lang="es-CO" sz="4000" dirty="0"/>
              <a:t>Aspectos que influyen en la probabilidad de uso del auto privado</a:t>
            </a:r>
          </a:p>
        </p:txBody>
      </p:sp>
    </p:spTree>
    <p:extLst>
      <p:ext uri="{BB962C8B-B14F-4D97-AF65-F5344CB8AC3E}">
        <p14:creationId xmlns:p14="http://schemas.microsoft.com/office/powerpoint/2010/main" val="3867122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83F9BE7D-53B1-47F8-8DE5-6513A1043D95}"/>
              </a:ext>
            </a:extLst>
          </p:cNvPr>
          <p:cNvSpPr txBox="1">
            <a:spLocks/>
          </p:cNvSpPr>
          <p:nvPr/>
        </p:nvSpPr>
        <p:spPr>
          <a:xfrm>
            <a:off x="315507" y="1811500"/>
            <a:ext cx="5691754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b="1" dirty="0">
                <a:solidFill>
                  <a:srgbClr val="7030A0"/>
                </a:solidFill>
              </a:rPr>
              <a:t>Incrementa cuando los individuos: </a:t>
            </a:r>
          </a:p>
          <a:p>
            <a:pPr lvl="0"/>
            <a:r>
              <a:rPr lang="es-ES" sz="2400" dirty="0">
                <a:solidFill>
                  <a:schemeClr val="tx1"/>
                </a:solidFill>
              </a:rPr>
              <a:t>Asignan un nivel de importancia alto a la generación de</a:t>
            </a:r>
            <a:r>
              <a:rPr lang="es-ES" sz="2400" dirty="0"/>
              <a:t> emisiones </a:t>
            </a:r>
          </a:p>
          <a:p>
            <a:pPr lvl="0"/>
            <a:r>
              <a:rPr lang="es-CO" sz="2400" dirty="0">
                <a:solidFill>
                  <a:schemeClr val="tx1"/>
                </a:solidFill>
              </a:rPr>
              <a:t>Tienen tiempos de viaje extendidos</a:t>
            </a:r>
          </a:p>
          <a:p>
            <a:pPr lvl="0"/>
            <a:r>
              <a:rPr lang="es-ES" sz="2400" dirty="0"/>
              <a:t>Se dedican al trabajo doméstico no remunerado</a:t>
            </a:r>
          </a:p>
          <a:p>
            <a:pPr lvl="0"/>
            <a:r>
              <a:rPr lang="es-ES" sz="2400" dirty="0"/>
              <a:t>Están desocupados o inactivos</a:t>
            </a:r>
          </a:p>
          <a:p>
            <a:endParaRPr lang="es-ES" sz="1500" dirty="0"/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DC40B8F2-AC94-4EFB-B5D4-B30F7AD3EE06}"/>
              </a:ext>
            </a:extLst>
          </p:cNvPr>
          <p:cNvSpPr txBox="1">
            <a:spLocks/>
          </p:cNvSpPr>
          <p:nvPr/>
        </p:nvSpPr>
        <p:spPr>
          <a:xfrm>
            <a:off x="6275307" y="1825625"/>
            <a:ext cx="56917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b="1" dirty="0">
                <a:solidFill>
                  <a:srgbClr val="00B0F0"/>
                </a:solidFill>
              </a:rPr>
              <a:t>Disminuye cuando los individuos: </a:t>
            </a:r>
          </a:p>
          <a:p>
            <a:pPr lvl="0"/>
            <a:r>
              <a:rPr lang="es-ES" sz="2400" dirty="0">
                <a:solidFill>
                  <a:schemeClr val="tx1"/>
                </a:solidFill>
              </a:rPr>
              <a:t>Asignan un nivel de importancia alto a </a:t>
            </a:r>
            <a:r>
              <a:rPr lang="es-ES" sz="2400" dirty="0"/>
              <a:t>la discriminación</a:t>
            </a:r>
          </a:p>
          <a:p>
            <a:r>
              <a:rPr lang="es-ES" sz="2400" dirty="0"/>
              <a:t>Saben conducir moto</a:t>
            </a:r>
          </a:p>
          <a:p>
            <a:r>
              <a:rPr lang="es-ES" sz="2400" dirty="0">
                <a:solidFill>
                  <a:schemeClr val="tx1"/>
                </a:solidFill>
              </a:rPr>
              <a:t>Recorren distancias cortas</a:t>
            </a:r>
          </a:p>
          <a:p>
            <a:pPr marL="114300" indent="0">
              <a:buNone/>
            </a:pPr>
            <a:endParaRPr lang="es-CO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36E7F565-77B4-4B19-8EF2-E183AFE8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379250"/>
            <a:ext cx="10669937" cy="898007"/>
          </a:xfrm>
        </p:spPr>
        <p:txBody>
          <a:bodyPr>
            <a:normAutofit fontScale="90000"/>
          </a:bodyPr>
          <a:lstStyle/>
          <a:p>
            <a:pPr marL="114300" algn="ctr"/>
            <a:r>
              <a:rPr lang="es-CO" sz="4000" dirty="0"/>
              <a:t>Aspectos que influyen en la probabilidad de uso del transporte público masivo</a:t>
            </a:r>
          </a:p>
        </p:txBody>
      </p:sp>
    </p:spTree>
    <p:extLst>
      <p:ext uri="{BB962C8B-B14F-4D97-AF65-F5344CB8AC3E}">
        <p14:creationId xmlns:p14="http://schemas.microsoft.com/office/powerpoint/2010/main" val="1039327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83F9BE7D-53B1-47F8-8DE5-6513A1043D95}"/>
              </a:ext>
            </a:extLst>
          </p:cNvPr>
          <p:cNvSpPr txBox="1">
            <a:spLocks/>
          </p:cNvSpPr>
          <p:nvPr/>
        </p:nvSpPr>
        <p:spPr>
          <a:xfrm>
            <a:off x="315507" y="1811500"/>
            <a:ext cx="5691754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b="1" dirty="0">
                <a:solidFill>
                  <a:srgbClr val="7030A0"/>
                </a:solidFill>
              </a:rPr>
              <a:t>Incrementa cuando los individuos: </a:t>
            </a:r>
          </a:p>
          <a:p>
            <a:r>
              <a:rPr lang="es-ES" sz="2600" dirty="0"/>
              <a:t>Se auto reconocen como mujeres</a:t>
            </a:r>
          </a:p>
          <a:p>
            <a:r>
              <a:rPr lang="es-ES" sz="2600" dirty="0">
                <a:solidFill>
                  <a:schemeClr val="tx1"/>
                </a:solidFill>
              </a:rPr>
              <a:t>Asignan un nivel de importancia alto al </a:t>
            </a:r>
            <a:r>
              <a:rPr lang="es-ES" sz="2600" dirty="0"/>
              <a:t> costo</a:t>
            </a:r>
          </a:p>
          <a:p>
            <a:r>
              <a:rPr lang="es-ES" sz="2600" dirty="0">
                <a:solidFill>
                  <a:schemeClr val="tx1"/>
                </a:solidFill>
              </a:rPr>
              <a:t>Asignan un nivel de importancia alto a las </a:t>
            </a:r>
            <a:r>
              <a:rPr lang="es-ES" sz="2600" dirty="0"/>
              <a:t>emisiones </a:t>
            </a:r>
          </a:p>
          <a:p>
            <a:pPr lvl="0"/>
            <a:r>
              <a:rPr lang="es-ES" sz="2600" dirty="0"/>
              <a:t>Se dedican al trabajo doméstico no remunerado</a:t>
            </a:r>
            <a:endParaRPr lang="en-US" sz="2600" dirty="0"/>
          </a:p>
          <a:p>
            <a:pPr lvl="0"/>
            <a:r>
              <a:rPr lang="es-ES" sz="2600" dirty="0"/>
              <a:t>Se encuentran desocupados o inactivos</a:t>
            </a:r>
          </a:p>
          <a:p>
            <a:pPr lvl="0"/>
            <a:r>
              <a:rPr lang="es-ES" sz="2600" dirty="0"/>
              <a:t>Viven en hogares donde no hay motos o autos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DC40B8F2-AC94-4EFB-B5D4-B30F7AD3EE06}"/>
              </a:ext>
            </a:extLst>
          </p:cNvPr>
          <p:cNvSpPr txBox="1">
            <a:spLocks/>
          </p:cNvSpPr>
          <p:nvPr/>
        </p:nvSpPr>
        <p:spPr>
          <a:xfrm>
            <a:off x="6275307" y="1825625"/>
            <a:ext cx="56917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b="1" dirty="0">
                <a:solidFill>
                  <a:srgbClr val="00B0F0"/>
                </a:solidFill>
              </a:rPr>
              <a:t>Disminuye cuando los individuos: </a:t>
            </a:r>
          </a:p>
          <a:p>
            <a:r>
              <a:rPr lang="es-ES" sz="2400" dirty="0"/>
              <a:t>Tienen como propósito principal de sus viajes actividades asociadas al cuidado </a:t>
            </a:r>
          </a:p>
          <a:p>
            <a:r>
              <a:rPr lang="es-ES" sz="2400" dirty="0"/>
              <a:t>Saben conducir moto</a:t>
            </a:r>
          </a:p>
          <a:p>
            <a:r>
              <a:rPr lang="es-ES" sz="2400" dirty="0"/>
              <a:t>Están en estrato medio o bajo</a:t>
            </a:r>
          </a:p>
          <a:p>
            <a:pPr marL="114300" indent="0">
              <a:buNone/>
            </a:pPr>
            <a:endParaRPr lang="es-CO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36E7F565-77B4-4B19-8EF2-E183AFE8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379250"/>
            <a:ext cx="10669937" cy="898007"/>
          </a:xfrm>
        </p:spPr>
        <p:txBody>
          <a:bodyPr>
            <a:normAutofit fontScale="90000"/>
          </a:bodyPr>
          <a:lstStyle/>
          <a:p>
            <a:pPr marL="114300" algn="ctr"/>
            <a:r>
              <a:rPr lang="es-CO" sz="4000" dirty="0"/>
              <a:t>Aspectos que influyen en la probabilidad de uso del transporte público individual</a:t>
            </a:r>
          </a:p>
        </p:txBody>
      </p:sp>
    </p:spTree>
    <p:extLst>
      <p:ext uri="{BB962C8B-B14F-4D97-AF65-F5344CB8AC3E}">
        <p14:creationId xmlns:p14="http://schemas.microsoft.com/office/powerpoint/2010/main" val="204192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64D1-5961-88D0-38BE-0B764BA5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788;p6">
            <a:extLst>
              <a:ext uri="{FF2B5EF4-FFF2-40B4-BE49-F238E27FC236}">
                <a16:creationId xmlns:a16="http://schemas.microsoft.com/office/drawing/2014/main" id="{D551041A-688B-445C-8828-8615023908E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F3F675-CC65-1E4D-46EB-612741D2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16" y="404664"/>
            <a:ext cx="10604091" cy="1143000"/>
          </a:xfrm>
        </p:spPr>
        <p:txBody>
          <a:bodyPr>
            <a:noAutofit/>
          </a:bodyPr>
          <a:lstStyle/>
          <a:p>
            <a:pPr algn="ctr"/>
            <a:r>
              <a:rPr sz="3200" b="1" dirty="0" err="1">
                <a:latin typeface="Aptos" panose="020B0004020202020204" pitchFamily="34" charset="0"/>
              </a:rPr>
              <a:t>Probabilidades</a:t>
            </a:r>
            <a:r>
              <a:rPr sz="3200" b="1" dirty="0">
                <a:latin typeface="Aptos" panose="020B0004020202020204" pitchFamily="34" charset="0"/>
              </a:rPr>
              <a:t> de </a:t>
            </a:r>
            <a:r>
              <a:rPr sz="3200" b="1" dirty="0" err="1">
                <a:latin typeface="Aptos" panose="020B0004020202020204" pitchFamily="34" charset="0"/>
              </a:rPr>
              <a:t>elección</a:t>
            </a:r>
            <a:r>
              <a:rPr sz="3200" b="1" dirty="0">
                <a:latin typeface="Aptos" panose="020B0004020202020204" pitchFamily="34" charset="0"/>
              </a:rPr>
              <a:t> de modo
</a:t>
            </a:r>
            <a:r>
              <a:rPr sz="3200" b="1" dirty="0" err="1">
                <a:latin typeface="Aptos" panose="020B0004020202020204" pitchFamily="34" charset="0"/>
              </a:rPr>
              <a:t>Individuo</a:t>
            </a:r>
            <a:r>
              <a:rPr sz="3200" b="1" dirty="0">
                <a:latin typeface="Aptos" panose="020B0004020202020204" pitchFamily="34" charset="0"/>
              </a:rPr>
              <a:t> de </a:t>
            </a:r>
            <a:r>
              <a:rPr sz="3200" b="1" dirty="0" err="1">
                <a:latin typeface="Aptos" panose="020B0004020202020204" pitchFamily="34" charset="0"/>
              </a:rPr>
              <a:t>ejemplo</a:t>
            </a:r>
            <a:r>
              <a:rPr sz="3200" b="1" dirty="0">
                <a:latin typeface="Aptos" panose="020B0004020202020204" pitchFamily="34" charset="0"/>
              </a:rPr>
              <a:t> – Cali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88B6FF4-50F5-9C2C-4011-66D702DF7B2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5187" y="1794400"/>
          <a:ext cx="10840065" cy="1496385"/>
        </p:xfrm>
        <a:graphic>
          <a:graphicData uri="http://schemas.openxmlformats.org/drawingml/2006/table">
            <a:tbl>
              <a:tblPr/>
              <a:tblGrid>
                <a:gridCol w="1031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7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58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5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542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26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158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8945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modo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pro</a:t>
                      </a:r>
                      <a:r>
                        <a:rPr lang="es-CO"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CO"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edio</a:t>
                      </a:r>
                      <a:r>
                        <a:rPr lang="es-CO"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obs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edad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sexo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edu</a:t>
                      </a:r>
                      <a:r>
                        <a:rPr lang="es-CO"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prop</a:t>
                      </a:r>
                      <a:r>
                        <a:rPr lang="es-CO"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ósito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dist</a:t>
                      </a:r>
                      <a:r>
                        <a:rPr lang="es-CO"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ancia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estrato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CO"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Estatus </a:t>
                      </a:r>
                      <a:r>
                        <a:rPr lang="es-CO"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lab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2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Moto </a:t>
                      </a: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privada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0.964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Transporte</a:t>
                      </a:r>
                      <a:r>
                        <a:rPr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público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35 - 54 años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Mujer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Terciaria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Tiempo personal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Entre 4 y 12 km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Bajo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Desocupado o inactivo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2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Auto privado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0.036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Transporte público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35 - 54 años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Mujer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Terciaria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Tiempo personal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Entre 4 y 12 km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Bajo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Desocupado</a:t>
                      </a:r>
                      <a:r>
                        <a:rPr sz="14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o </a:t>
                      </a:r>
                      <a:r>
                        <a:rPr sz="14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inactivo</a:t>
                      </a:r>
                      <a:endParaRPr sz="14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C2869AD9-8043-DEE4-F60C-F6BD96A1365E}"/>
              </a:ext>
            </a:extLst>
          </p:cNvPr>
          <p:cNvSpPr txBox="1"/>
          <p:nvPr/>
        </p:nvSpPr>
        <p:spPr>
          <a:xfrm>
            <a:off x="309716" y="3567216"/>
            <a:ext cx="115922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800" dirty="0">
                <a:latin typeface="Aptos" panose="020B0004020202020204" pitchFamily="34" charset="0"/>
              </a:rPr>
              <a:t>Para este ejemplo, seleccionamos a una mujer de entre 35 y 54 años, con educación terciaria, cuyo viaje es por tiempo personal, que se desplaza una distancia entre 4 y 12 km, vive en estrato bajo, y se encuentra en condición de desocupada o inactiva. Estas son las variables que entran al modelo como insumo para calcular las probabilidades.</a:t>
            </a:r>
          </a:p>
          <a:p>
            <a:pPr>
              <a:buNone/>
            </a:pPr>
            <a:endParaRPr lang="es-MX" sz="18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s-MX" sz="1800" dirty="0">
                <a:latin typeface="Aptos" panose="020B0004020202020204" pitchFamily="34" charset="0"/>
              </a:rPr>
              <a:t>Con base en estas características, el modelo estima:</a:t>
            </a:r>
          </a:p>
          <a:p>
            <a:pPr>
              <a:buNone/>
            </a:pPr>
            <a:r>
              <a:rPr lang="es-MX" sz="1800" dirty="0">
                <a:latin typeface="Aptos" panose="020B0004020202020204" pitchFamily="34" charset="0"/>
              </a:rPr>
              <a:t>- 96.4% de probabilidad de que esta persona use moto privada,</a:t>
            </a:r>
          </a:p>
          <a:p>
            <a:pPr marL="171450" indent="-171450">
              <a:buFontTx/>
              <a:buChar char="-"/>
            </a:pPr>
            <a:r>
              <a:rPr lang="es-MX" sz="1800" dirty="0">
                <a:latin typeface="Aptos" panose="020B0004020202020204" pitchFamily="34" charset="0"/>
              </a:rPr>
              <a:t>3.6% de probabilidad de que use auto privado.</a:t>
            </a:r>
          </a:p>
          <a:p>
            <a:pPr marL="171450" indent="-171450">
              <a:buFontTx/>
              <a:buChar char="-"/>
            </a:pPr>
            <a:endParaRPr lang="es-MX" sz="1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07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E5548-41F1-4843-BEFE-330CA9E4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18" y="2393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Medellín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909719-2CD3-42A8-81ED-E39F2347E3AB}"/>
              </a:ext>
            </a:extLst>
          </p:cNvPr>
          <p:cNvSpPr txBox="1">
            <a:spLocks/>
          </p:cNvSpPr>
          <p:nvPr/>
        </p:nvSpPr>
        <p:spPr>
          <a:xfrm>
            <a:off x="1998261" y="92167"/>
            <a:ext cx="2328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 err="1"/>
              <a:t>Mujeres</a:t>
            </a:r>
            <a:endParaRPr lang="en-US" sz="32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23DDA7F-BEEA-4BCE-BF97-BE15E9A0F54F}"/>
              </a:ext>
            </a:extLst>
          </p:cNvPr>
          <p:cNvSpPr txBox="1">
            <a:spLocks/>
          </p:cNvSpPr>
          <p:nvPr/>
        </p:nvSpPr>
        <p:spPr>
          <a:xfrm>
            <a:off x="9285303" y="92166"/>
            <a:ext cx="2328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/>
              <a:t>Hombres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441D228-BF0A-4313-BABD-4756B4BD6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086" y="1255095"/>
            <a:ext cx="9344025" cy="381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87C0B62-F581-4321-9EFF-08903CB012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834"/>
          <a:stretch/>
        </p:blipFill>
        <p:spPr>
          <a:xfrm>
            <a:off x="6621385" y="1758737"/>
            <a:ext cx="5327836" cy="475143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DBF609D-8F8F-4C4C-81B4-ADAF34DC20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440"/>
          <a:stretch/>
        </p:blipFill>
        <p:spPr>
          <a:xfrm>
            <a:off x="64827" y="1758737"/>
            <a:ext cx="5818672" cy="454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67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E5548-41F1-4843-BEFE-330CA9E4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18" y="2393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Medellín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909719-2CD3-42A8-81ED-E39F2347E3AB}"/>
              </a:ext>
            </a:extLst>
          </p:cNvPr>
          <p:cNvSpPr txBox="1">
            <a:spLocks/>
          </p:cNvSpPr>
          <p:nvPr/>
        </p:nvSpPr>
        <p:spPr>
          <a:xfrm>
            <a:off x="1998261" y="92167"/>
            <a:ext cx="2328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 err="1"/>
              <a:t>Mujeres</a:t>
            </a:r>
            <a:endParaRPr lang="en-US" sz="32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23DDA7F-BEEA-4BCE-BF97-BE15E9A0F54F}"/>
              </a:ext>
            </a:extLst>
          </p:cNvPr>
          <p:cNvSpPr txBox="1">
            <a:spLocks/>
          </p:cNvSpPr>
          <p:nvPr/>
        </p:nvSpPr>
        <p:spPr>
          <a:xfrm>
            <a:off x="9285303" y="92166"/>
            <a:ext cx="2328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/>
              <a:t>Hombres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441D228-BF0A-4313-BABD-4756B4BD6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086" y="1255095"/>
            <a:ext cx="9344025" cy="381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87C0B62-F581-4321-9EFF-08903CB012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834"/>
          <a:stretch/>
        </p:blipFill>
        <p:spPr>
          <a:xfrm>
            <a:off x="6621385" y="1758737"/>
            <a:ext cx="5327836" cy="475143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DBF609D-8F8F-4C4C-81B4-ADAF34DC20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440"/>
          <a:stretch/>
        </p:blipFill>
        <p:spPr>
          <a:xfrm>
            <a:off x="64827" y="1758737"/>
            <a:ext cx="5818672" cy="454652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5991712-CDCF-484B-A722-0E16B06F9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71266"/>
            <a:ext cx="6124575" cy="444817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B084E10-E40F-4BD2-8C75-E8B6F2FCC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903" y="1540371"/>
            <a:ext cx="55149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05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83F9BE7D-53B1-47F8-8DE5-6513A1043D95}"/>
              </a:ext>
            </a:extLst>
          </p:cNvPr>
          <p:cNvSpPr txBox="1">
            <a:spLocks/>
          </p:cNvSpPr>
          <p:nvPr/>
        </p:nvSpPr>
        <p:spPr>
          <a:xfrm>
            <a:off x="761031" y="1811500"/>
            <a:ext cx="1079234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b="1" dirty="0">
                <a:solidFill>
                  <a:srgbClr val="7030A0"/>
                </a:solidFill>
              </a:rPr>
              <a:t>Dimensión 1: </a:t>
            </a:r>
            <a:r>
              <a:rPr lang="es-CO" sz="2600" dirty="0"/>
              <a:t>Asociada a la alta valoración sobre atributos del modo de transporte</a:t>
            </a:r>
          </a:p>
          <a:p>
            <a:pPr marL="114300" indent="0">
              <a:buNone/>
            </a:pPr>
            <a:r>
              <a:rPr lang="es-ES" b="1" dirty="0">
                <a:solidFill>
                  <a:srgbClr val="00B0F0"/>
                </a:solidFill>
              </a:rPr>
              <a:t>Dimensión 2: </a:t>
            </a:r>
            <a:r>
              <a:rPr lang="es-CO" sz="2600" dirty="0"/>
              <a:t>Asociada con disponibilidad de vehículos en el hogar (estructura económica) y experiencia de conducción (conduce - licencia). Motivo de viaje e influencia social.  </a:t>
            </a:r>
          </a:p>
          <a:p>
            <a:pPr marL="114300" indent="0">
              <a:buNone/>
            </a:pPr>
            <a:r>
              <a:rPr lang="es-ES" b="1" dirty="0">
                <a:solidFill>
                  <a:srgbClr val="FFC000"/>
                </a:solidFill>
              </a:rPr>
              <a:t>Dimensión 3:</a:t>
            </a:r>
            <a:r>
              <a:rPr lang="es-ES" sz="2400" b="1" dirty="0">
                <a:solidFill>
                  <a:srgbClr val="00B0F0"/>
                </a:solidFill>
              </a:rPr>
              <a:t> </a:t>
            </a:r>
            <a:r>
              <a:rPr lang="es-CO" sz="2600" dirty="0"/>
              <a:t>Asociada al acceso a vehículos, pero mediado por aspectos sociodemográficos (sexo, educación, ocupación).  </a:t>
            </a:r>
          </a:p>
          <a:p>
            <a:pPr marL="114300" indent="0">
              <a:buNone/>
            </a:pPr>
            <a:endParaRPr lang="es-CO" sz="2600" dirty="0"/>
          </a:p>
          <a:p>
            <a:pPr marL="114300" indent="0">
              <a:buFont typeface="Arial"/>
              <a:buNone/>
            </a:pPr>
            <a:endParaRPr lang="es-ES" sz="260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36E7F565-77B4-4B19-8EF2-E183AFE8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379250"/>
            <a:ext cx="10669937" cy="898007"/>
          </a:xfrm>
        </p:spPr>
        <p:txBody>
          <a:bodyPr>
            <a:normAutofit/>
          </a:bodyPr>
          <a:lstStyle/>
          <a:p>
            <a:pPr marL="114300" algn="ctr"/>
            <a:r>
              <a:rPr lang="es-CO" sz="4000" dirty="0"/>
              <a:t>Análisis factorial Medellín</a:t>
            </a:r>
          </a:p>
        </p:txBody>
      </p:sp>
    </p:spTree>
    <p:extLst>
      <p:ext uri="{BB962C8B-B14F-4D97-AF65-F5344CB8AC3E}">
        <p14:creationId xmlns:p14="http://schemas.microsoft.com/office/powerpoint/2010/main" val="1018116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BADB8-967D-4023-A1F7-C9D8131E4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Identificación</a:t>
            </a:r>
            <a:r>
              <a:rPr lang="en-US" b="1" dirty="0"/>
              <a:t> de variables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725138-AAA0-4F01-81F4-38C4BEECD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543051"/>
              </p:ext>
            </p:extLst>
          </p:nvPr>
        </p:nvGraphicFramePr>
        <p:xfrm>
          <a:off x="2728452" y="1871469"/>
          <a:ext cx="6474541" cy="4503420"/>
        </p:xfrm>
        <a:graphic>
          <a:graphicData uri="http://schemas.openxmlformats.org/drawingml/2006/table">
            <a:tbl>
              <a:tblPr>
                <a:tableStyleId>{BC26EAFF-B65E-4726-8E2E-975139FAE1F5}</a:tableStyleId>
              </a:tblPr>
              <a:tblGrid>
                <a:gridCol w="4502678">
                  <a:extLst>
                    <a:ext uri="{9D8B030D-6E8A-4147-A177-3AD203B41FA5}">
                      <a16:colId xmlns:a16="http://schemas.microsoft.com/office/drawing/2014/main" val="710619572"/>
                    </a:ext>
                  </a:extLst>
                </a:gridCol>
                <a:gridCol w="1971863">
                  <a:extLst>
                    <a:ext uri="{9D8B030D-6E8A-4147-A177-3AD203B41FA5}">
                      <a16:colId xmlns:a16="http://schemas.microsoft.com/office/drawing/2014/main" val="1865574702"/>
                    </a:ext>
                  </a:extLst>
                </a:gridCol>
              </a:tblGrid>
              <a:tr h="328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Variable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Dim 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0972402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p28_importancia_emisiones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0,605058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8222341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p28_importancia_riesgo_acoso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0,568455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2581039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p28_importancia_riesgo_robo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0,558766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9656733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p28_importancia_siniestralidad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0,527188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600460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p28_importancia_discriminacion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0,52508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6870333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p28_importancia_costo_uso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0,518895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0084934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p28_importancia_tiempo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0,501004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8151884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p28_importancia_costo_compra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0,477929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2458623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p28_importancia_comodidad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0,455439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6580020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p_14_licencia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0,045558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9064052"/>
                  </a:ext>
                </a:extLst>
              </a:tr>
              <a:tr h="32815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p36_influencia_amigos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0,04098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9100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719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E5548-41F1-4843-BEFE-330CA9E4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18" y="2393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Cali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909719-2CD3-42A8-81ED-E39F2347E3AB}"/>
              </a:ext>
            </a:extLst>
          </p:cNvPr>
          <p:cNvSpPr txBox="1">
            <a:spLocks/>
          </p:cNvSpPr>
          <p:nvPr/>
        </p:nvSpPr>
        <p:spPr>
          <a:xfrm>
            <a:off x="1998261" y="92167"/>
            <a:ext cx="2328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 err="1"/>
              <a:t>Mujeres</a:t>
            </a:r>
            <a:endParaRPr lang="en-US" sz="32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23DDA7F-BEEA-4BCE-BF97-BE15E9A0F54F}"/>
              </a:ext>
            </a:extLst>
          </p:cNvPr>
          <p:cNvSpPr txBox="1">
            <a:spLocks/>
          </p:cNvSpPr>
          <p:nvPr/>
        </p:nvSpPr>
        <p:spPr>
          <a:xfrm>
            <a:off x="9285303" y="92166"/>
            <a:ext cx="2328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/>
              <a:t>Hombres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E65AD9-C5A5-4096-8266-C5C009AE7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7" y="1867581"/>
            <a:ext cx="6023733" cy="453321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1E5A9E9-E80B-409C-BBB4-D1C146E38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12" y="1972673"/>
            <a:ext cx="5453418" cy="42069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BEB2465-7A3B-45CA-99AB-CA3B6D113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1209109"/>
            <a:ext cx="119538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37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83F9BE7D-53B1-47F8-8DE5-6513A1043D95}"/>
              </a:ext>
            </a:extLst>
          </p:cNvPr>
          <p:cNvSpPr txBox="1">
            <a:spLocks/>
          </p:cNvSpPr>
          <p:nvPr/>
        </p:nvSpPr>
        <p:spPr>
          <a:xfrm>
            <a:off x="761031" y="1811500"/>
            <a:ext cx="1079234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ES" b="1" dirty="0">
                <a:solidFill>
                  <a:srgbClr val="7030A0"/>
                </a:solidFill>
              </a:rPr>
              <a:t>Dimensión 1: </a:t>
            </a:r>
            <a:r>
              <a:rPr lang="es-CO" dirty="0"/>
              <a:t>Asociada a las percepciones sobre atributos del modo de transporte. </a:t>
            </a:r>
          </a:p>
          <a:p>
            <a:pPr marL="114300" indent="0">
              <a:buNone/>
            </a:pPr>
            <a:r>
              <a:rPr lang="es-ES" b="1" dirty="0">
                <a:solidFill>
                  <a:srgbClr val="00B0F0"/>
                </a:solidFill>
              </a:rPr>
              <a:t>Dimensión 2: </a:t>
            </a:r>
            <a:r>
              <a:rPr lang="es-ES" dirty="0"/>
              <a:t>Se asocia con percepciones de los atributos, combinada con el nivel educativo y la satisfacción con el medio de transporte.</a:t>
            </a:r>
            <a:r>
              <a:rPr lang="es-CO" sz="2600" dirty="0"/>
              <a:t> </a:t>
            </a:r>
          </a:p>
          <a:p>
            <a:pPr marL="114300" indent="0">
              <a:buFont typeface="Arial"/>
              <a:buNone/>
            </a:pPr>
            <a:r>
              <a:rPr lang="es-ES" b="1" dirty="0">
                <a:solidFill>
                  <a:srgbClr val="FFC000"/>
                </a:solidFill>
              </a:rPr>
              <a:t>Dimensión 3: </a:t>
            </a:r>
            <a:r>
              <a:rPr lang="es-ES" dirty="0"/>
              <a:t>Comodidad, tiempo, distancia de viaje, nivel educativo, ocupación. 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36E7F565-77B4-4B19-8EF2-E183AFE8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1" y="379250"/>
            <a:ext cx="10669937" cy="898007"/>
          </a:xfrm>
        </p:spPr>
        <p:txBody>
          <a:bodyPr>
            <a:normAutofit/>
          </a:bodyPr>
          <a:lstStyle/>
          <a:p>
            <a:pPr marL="114300" algn="ctr"/>
            <a:r>
              <a:rPr lang="es-CO" sz="4000" dirty="0"/>
              <a:t>Análisis factorial Cali</a:t>
            </a:r>
          </a:p>
        </p:txBody>
      </p:sp>
    </p:spTree>
    <p:extLst>
      <p:ext uri="{BB962C8B-B14F-4D97-AF65-F5344CB8AC3E}">
        <p14:creationId xmlns:p14="http://schemas.microsoft.com/office/powerpoint/2010/main" val="1252151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E5548-41F1-4843-BEFE-330CA9E4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18" y="2393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Cali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909719-2CD3-42A8-81ED-E39F2347E3AB}"/>
              </a:ext>
            </a:extLst>
          </p:cNvPr>
          <p:cNvSpPr txBox="1">
            <a:spLocks/>
          </p:cNvSpPr>
          <p:nvPr/>
        </p:nvSpPr>
        <p:spPr>
          <a:xfrm>
            <a:off x="1998261" y="92167"/>
            <a:ext cx="2328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 err="1"/>
              <a:t>Mujeres</a:t>
            </a:r>
            <a:endParaRPr lang="en-US" sz="32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23DDA7F-BEEA-4BCE-BF97-BE15E9A0F54F}"/>
              </a:ext>
            </a:extLst>
          </p:cNvPr>
          <p:cNvSpPr txBox="1">
            <a:spLocks/>
          </p:cNvSpPr>
          <p:nvPr/>
        </p:nvSpPr>
        <p:spPr>
          <a:xfrm>
            <a:off x="9285303" y="92166"/>
            <a:ext cx="2328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/>
              <a:t>Hombres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BEB2465-7A3B-45CA-99AB-CA3B6D113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209109"/>
            <a:ext cx="11953875" cy="381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4388044-ECAC-4FA7-A57B-BAFF3D0B4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775" y="2247219"/>
            <a:ext cx="5229225" cy="41052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DF44914-55EC-4635-ADE4-C6D430AB5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49" y="2178276"/>
            <a:ext cx="4892295" cy="410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51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BC1F0-34DD-4D46-8C1F-179F6C5D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36"/>
            <a:ext cx="10515600" cy="44603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Tablero</a:t>
            </a:r>
            <a:r>
              <a:rPr lang="en-US" dirty="0"/>
              <a:t> </a:t>
            </a:r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emisiones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FF6EBE-5783-49A0-BF33-14B314043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52" y="722671"/>
            <a:ext cx="7869296" cy="590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00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EB59C53-0F02-4D70-8F43-92D0343CED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88" t="23537" r="1558" b="3433"/>
          <a:stretch/>
        </p:blipFill>
        <p:spPr>
          <a:xfrm>
            <a:off x="542139" y="265470"/>
            <a:ext cx="11153332" cy="626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85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8557F8C-CA0A-4DBE-B05E-4E33F998E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49" y="215694"/>
            <a:ext cx="11415712" cy="644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598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14"/>
          <p:cNvSpPr txBox="1"/>
          <p:nvPr/>
        </p:nvSpPr>
        <p:spPr>
          <a:xfrm>
            <a:off x="6576442" y="3108426"/>
            <a:ext cx="501947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>
                <a:solidFill>
                  <a:srgbClr val="55257D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08ce7a00-5569-4b3f-b1aa-ca7c736aa64b" xsi:nil="true"/>
    <LMS_Mappings xmlns="08ce7a00-5569-4b3f-b1aa-ca7c736aa64b" xsi:nil="true"/>
    <Invited_Students xmlns="08ce7a00-5569-4b3f-b1aa-ca7c736aa64b" xsi:nil="true"/>
    <DefaultSectionNames xmlns="08ce7a00-5569-4b3f-b1aa-ca7c736aa64b" xsi:nil="true"/>
    <Has_Teacher_Only_SectionGroup xmlns="08ce7a00-5569-4b3f-b1aa-ca7c736aa64b" xsi:nil="true"/>
    <FolderType xmlns="08ce7a00-5569-4b3f-b1aa-ca7c736aa64b" xsi:nil="true"/>
    <Is_Collaboration_Space_Locked xmlns="08ce7a00-5569-4b3f-b1aa-ca7c736aa64b" xsi:nil="true"/>
    <Self_Registration_Enabled xmlns="08ce7a00-5569-4b3f-b1aa-ca7c736aa64b" xsi:nil="true"/>
    <Teachers xmlns="08ce7a00-5569-4b3f-b1aa-ca7c736aa64b">
      <UserInfo>
        <DisplayName/>
        <AccountId xsi:nil="true"/>
        <AccountType/>
      </UserInfo>
    </Teachers>
    <Templates xmlns="08ce7a00-5569-4b3f-b1aa-ca7c736aa64b" xsi:nil="true"/>
    <CultureName xmlns="08ce7a00-5569-4b3f-b1aa-ca7c736aa64b" xsi:nil="true"/>
    <TeamsChannelId xmlns="08ce7a00-5569-4b3f-b1aa-ca7c736aa64b" xsi:nil="true"/>
    <Teams_Channel_Section_Location xmlns="08ce7a00-5569-4b3f-b1aa-ca7c736aa64b" xsi:nil="true"/>
    <NotebookType xmlns="08ce7a00-5569-4b3f-b1aa-ca7c736aa64b" xsi:nil="true"/>
    <Students xmlns="08ce7a00-5569-4b3f-b1aa-ca7c736aa64b">
      <UserInfo>
        <DisplayName/>
        <AccountId xsi:nil="true"/>
        <AccountType/>
      </UserInfo>
    </Students>
    <Student_Groups xmlns="08ce7a00-5569-4b3f-b1aa-ca7c736aa64b">
      <UserInfo>
        <DisplayName/>
        <AccountId xsi:nil="true"/>
        <AccountType/>
      </UserInfo>
    </Student_Groups>
    <Invited_Teachers xmlns="08ce7a00-5569-4b3f-b1aa-ca7c736aa64b" xsi:nil="true"/>
    <IsNotebookLocked xmlns="08ce7a00-5569-4b3f-b1aa-ca7c736aa64b" xsi:nil="true"/>
    <_activity xmlns="08ce7a00-5569-4b3f-b1aa-ca7c736aa64b" xsi:nil="true"/>
    <Math_Settings xmlns="08ce7a00-5569-4b3f-b1aa-ca7c736aa64b" xsi:nil="true"/>
    <Owner xmlns="08ce7a00-5569-4b3f-b1aa-ca7c736aa64b">
      <UserInfo>
        <DisplayName/>
        <AccountId xsi:nil="true"/>
        <AccountType/>
      </UserInfo>
    </Owner>
    <Distribution_Groups xmlns="08ce7a00-5569-4b3f-b1aa-ca7c736aa64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81076F8DBB9C489A82B37ADE714453" ma:contentTypeVersion="39" ma:contentTypeDescription="Create a new document." ma:contentTypeScope="" ma:versionID="25207f3f33eeca902d54738ed9ab4784">
  <xsd:schema xmlns:xsd="http://www.w3.org/2001/XMLSchema" xmlns:xs="http://www.w3.org/2001/XMLSchema" xmlns:p="http://schemas.microsoft.com/office/2006/metadata/properties" xmlns:ns3="08ce7a00-5569-4b3f-b1aa-ca7c736aa64b" xmlns:ns4="ca04e328-97a0-48bd-9e93-6fd51a4de9ff" targetNamespace="http://schemas.microsoft.com/office/2006/metadata/properties" ma:root="true" ma:fieldsID="92507991550d24950881d55749afd0c2" ns3:_="" ns4:_="">
    <xsd:import namespace="08ce7a00-5569-4b3f-b1aa-ca7c736aa64b"/>
    <xsd:import namespace="ca04e328-97a0-48bd-9e93-6fd51a4de9f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Teams_Channel_Section_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e7a00-5569-4b3f-b1aa-ca7c736aa6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NotebookType" ma:index="21" nillable="true" ma:displayName="Notebook Type" ma:internalName="NotebookType">
      <xsd:simpleType>
        <xsd:restriction base="dms:Text"/>
      </xsd:simpleType>
    </xsd:element>
    <xsd:element name="FolderType" ma:index="22" nillable="true" ma:displayName="Folder Type" ma:internalName="FolderType">
      <xsd:simpleType>
        <xsd:restriction base="dms:Text"/>
      </xsd:simpleType>
    </xsd:element>
    <xsd:element name="CultureName" ma:index="23" nillable="true" ma:displayName="Culture Name" ma:internalName="CultureName">
      <xsd:simpleType>
        <xsd:restriction base="dms:Text"/>
      </xsd:simpleType>
    </xsd:element>
    <xsd:element name="AppVersion" ma:index="24" nillable="true" ma:displayName="App Version" ma:internalName="AppVersion">
      <xsd:simpleType>
        <xsd:restriction base="dms:Text"/>
      </xsd:simpleType>
    </xsd:element>
    <xsd:element name="TeamsChannelId" ma:index="25" nillable="true" ma:displayName="Teams Channel Id" ma:internalName="TeamsChannelId">
      <xsd:simpleType>
        <xsd:restriction base="dms:Text"/>
      </xsd:simpleType>
    </xsd:element>
    <xsd:element name="Owner" ma:index="2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7" nillable="true" ma:displayName="Math Settings" ma:internalName="Math_Settings">
      <xsd:simpleType>
        <xsd:restriction base="dms:Text"/>
      </xsd:simpleType>
    </xsd:element>
    <xsd:element name="DefaultSectionNames" ma:index="2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9" nillable="true" ma:displayName="Is Collaboration Space Locked" ma:internalName="Is_Collaboration_Space_Locked">
      <xsd:simpleType>
        <xsd:restriction base="dms:Boolean"/>
      </xsd:simpleType>
    </xsd:element>
    <xsd:element name="IsNotebookLocked" ma:index="40" nillable="true" ma:displayName="Is Notebook Locked" ma:internalName="IsNotebookLocked">
      <xsd:simpleType>
        <xsd:restriction base="dms:Boolean"/>
      </xsd:simpleType>
    </xsd:element>
    <xsd:element name="Teams_Channel_Section_Location" ma:index="41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2" nillable="true" ma:displayName="Length (seconds)" ma:internalName="MediaLengthInSeconds" ma:readOnly="true">
      <xsd:simpleType>
        <xsd:restriction base="dms:Unknown"/>
      </xsd:simpleType>
    </xsd:element>
    <xsd:element name="_activity" ma:index="43" nillable="true" ma:displayName="_activity" ma:hidden="true" ma:internalName="_activity">
      <xsd:simpleType>
        <xsd:restriction base="dms:Note"/>
      </xsd:simpleType>
    </xsd:element>
    <xsd:element name="MediaServiceObjectDetectorVersions" ma:index="4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4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04e328-97a0-48bd-9e93-6fd51a4de9f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7BE88A-A851-448A-A788-FE7746C6E7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269F06-8BA0-46C4-829D-CA7E0A1CE794}">
  <ds:schemaRefs>
    <ds:schemaRef ds:uri="08ce7a00-5569-4b3f-b1aa-ca7c736aa64b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a04e328-97a0-48bd-9e93-6fd51a4de9ff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F9AE2EE-DB81-4239-A81A-27FCF23732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ce7a00-5569-4b3f-b1aa-ca7c736aa64b"/>
    <ds:schemaRef ds:uri="ca04e328-97a0-48bd-9e93-6fd51a4de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15810</TotalTime>
  <Words>2039</Words>
  <Application>Microsoft Office PowerPoint</Application>
  <PresentationFormat>Panorámica</PresentationFormat>
  <Paragraphs>391</Paragraphs>
  <Slides>34</Slides>
  <Notes>12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8" baseType="lpstr">
      <vt:lpstr>Aptos</vt:lpstr>
      <vt:lpstr>Arial</vt:lpstr>
      <vt:lpstr>Calibri</vt:lpstr>
      <vt:lpstr>Tema de Office</vt:lpstr>
      <vt:lpstr>Presentación de PowerPoint</vt:lpstr>
      <vt:lpstr>Agenda</vt:lpstr>
      <vt:lpstr>Cálculo emisiones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del Modelo de Regresión MNL Caso Cali  Aspectos que influyen en la probabilidad de elegir un determinado modo de transporte</vt:lpstr>
      <vt:lpstr>Aspectos que influyen en la probabilidad de uso del auto privado</vt:lpstr>
      <vt:lpstr>Aspectos que influyen en la probabilidad de uso de la moto</vt:lpstr>
      <vt:lpstr>Aspectos que influyen en la probabilidad de uso del transporte público masivo</vt:lpstr>
      <vt:lpstr>Aspectos que influyen en la probabilidad de uso del transporte público individual</vt:lpstr>
      <vt:lpstr>Aspectos que influyen en la probabilidad de uso del transporte informal</vt:lpstr>
      <vt:lpstr>Aspectos que influyen en la probabilidad de uso de los modos activos</vt:lpstr>
      <vt:lpstr>Resultados del Modelo de Regresión MNL Caso Medellín  Aspectos que influyen en la probabilidad de elegir un determinado modo de transporte</vt:lpstr>
      <vt:lpstr>Aspectos que influyen en la probabilidad de uso del auto privado</vt:lpstr>
      <vt:lpstr>Aspectos que influyen en la probabilidad de uso del transporte público masivo</vt:lpstr>
      <vt:lpstr>Aspectos que influyen en la probabilidad de uso del transporte público individual</vt:lpstr>
      <vt:lpstr>Probabilidades de elección de modo
Individuo de ejemplo – Cali</vt:lpstr>
      <vt:lpstr>Medellín</vt:lpstr>
      <vt:lpstr>Medellín</vt:lpstr>
      <vt:lpstr>Análisis factorial Medellín</vt:lpstr>
      <vt:lpstr>Identificación de variables</vt:lpstr>
      <vt:lpstr>Cali</vt:lpstr>
      <vt:lpstr>Análisis factorial Cali</vt:lpstr>
      <vt:lpstr>Cali</vt:lpstr>
      <vt:lpstr>Tablero estimación de emisiones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Kathleen Georjahna Salazar Serna</cp:lastModifiedBy>
  <cp:revision>95</cp:revision>
  <dcterms:created xsi:type="dcterms:W3CDTF">2023-06-29T21:20:06Z</dcterms:created>
  <dcterms:modified xsi:type="dcterms:W3CDTF">2026-01-29T18:13:17Z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0x0101005181076F8DBB9C489A82B37ADE714453</vt:lpwstr>
  </property>
</Properties>
</file>